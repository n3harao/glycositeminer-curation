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Lst>
  <p:sldSz cy="6858000" cx="12192000"/>
  <p:notesSz cx="6858000" cy="9144000"/>
  <p:embeddedFontLst>
    <p:embeddedFont>
      <p:font typeface="Roboto Mono"/>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15" roundtripDataSignature="AMtx7mh6rjNwRVxZIjvDD22DpVi38D9M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obotoMono-regular.fntdata"/><Relationship Id="rId10" Type="http://schemas.openxmlformats.org/officeDocument/2006/relationships/slide" Target="slides/slide5.xml"/><Relationship Id="rId13" Type="http://schemas.openxmlformats.org/officeDocument/2006/relationships/font" Target="fonts/RobotoMono-italic.fntdata"/><Relationship Id="rId12" Type="http://schemas.openxmlformats.org/officeDocument/2006/relationships/font" Target="fonts/RobotoMon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a3b34c08c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g3ea3b34c08c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a3b34c08c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GB" sz="1100"/>
              <a:t>Quick reminder of where this fits: last week was the tool critique, all of us giving feedback on the web interface. This week I switched over to the actual v2.0 pipeline and got the whole data ingestion front end running end to end. That's Steps 1 and 2 from Robel's tasks.md, and the stat box up top is the headline: both steps are done and the data pipeline runs start to finish. I'm going to walk through the four cards left to right.</a:t>
            </a:r>
            <a:endParaRPr sz="1100"/>
          </a:p>
          <a:p>
            <a:pPr indent="0" lvl="0" marL="0" rtl="0" algn="l">
              <a:lnSpc>
                <a:spcPct val="115000"/>
              </a:lnSpc>
              <a:spcBef>
                <a:spcPts val="1200"/>
              </a:spcBef>
              <a:spcAft>
                <a:spcPts val="0"/>
              </a:spcAft>
              <a:buClr>
                <a:schemeClr val="dk1"/>
              </a:buClr>
              <a:buSzPts val="1100"/>
              <a:buFont typeface="Arial"/>
              <a:buNone/>
            </a:pPr>
            <a:r>
              <a:rPr lang="en-GB" sz="1100"/>
              <a:t>I started by reading through the entire codebase before running anything, because I wanted to understand the architecture first. That's six download and extract scripts plus the big shared library, util.py, which is around 1,300 lines and is really the engine of the whole thing. Then I ran Steps 1 and 2: download all the source data, then build the known-sites set. Both complete. And I documented the architecture and everything I found in the repo README, so the team has a single reference.</a:t>
            </a:r>
            <a:endParaRPr sz="1100"/>
          </a:p>
          <a:p>
            <a:pPr indent="0" lvl="0" marL="0" rtl="0" algn="l">
              <a:lnSpc>
                <a:spcPct val="115000"/>
              </a:lnSpc>
              <a:spcBef>
                <a:spcPts val="1200"/>
              </a:spcBef>
              <a:spcAft>
                <a:spcPts val="0"/>
              </a:spcAft>
              <a:buSzPts val="1100"/>
              <a:buNone/>
            </a:pPr>
            <a:r>
              <a:rPr lang="en-GB" sz="1100"/>
              <a:t>The scripts were written for a Linux environment and I'm on Windows, so several of them broke, and I traced and fixed each one.</a:t>
            </a:r>
            <a:endParaRPr sz="1100"/>
          </a:p>
          <a:p>
            <a:pPr indent="457200" lvl="0" marL="0" rtl="0" algn="l">
              <a:lnSpc>
                <a:spcPct val="115000"/>
              </a:lnSpc>
              <a:spcBef>
                <a:spcPts val="1200"/>
              </a:spcBef>
              <a:spcAft>
                <a:spcPts val="0"/>
              </a:spcAft>
              <a:buClr>
                <a:schemeClr val="dk1"/>
              </a:buClr>
              <a:buSzPts val="1100"/>
              <a:buFont typeface="Arial"/>
              <a:buNone/>
            </a:pPr>
            <a:r>
              <a:rPr lang="en-GB" sz="1100"/>
              <a:t>Two separate problems. First, it called gunzip as a shell command to decompress the download, and gunzip doesn't exist on Windows, so that failed and the script then crashed trying to open a file that was never decompressed. I swapped that for Python's built-in gzip module, which works on any OS. Second, and this one was sneakier, it was reading the wrong column to identify reference species. The species_info CSV had gained a column since the index was written, so the check was silently producing an empty output and not throwing any error at all. That's the dangerous kind of bug, no crash, just wrong data. I fixed the column index and now it correctly filters down to 648,000 gene records.</a:t>
            </a:r>
            <a:endParaRPr sz="1100"/>
          </a:p>
          <a:p>
            <a:pPr indent="457200" lvl="0" marL="0" rtl="0" algn="l">
              <a:lnSpc>
                <a:spcPct val="115000"/>
              </a:lnSpc>
              <a:spcBef>
                <a:spcPts val="1200"/>
              </a:spcBef>
              <a:spcAft>
                <a:spcPts val="0"/>
              </a:spcAft>
              <a:buClr>
                <a:schemeClr val="dk1"/>
              </a:buClr>
              <a:buSzPts val="1100"/>
              <a:buFont typeface="Arial"/>
              <a:buNone/>
            </a:pPr>
            <a:r>
              <a:rPr lang="en-GB" sz="1100"/>
              <a:t>Then medline. When I paused the download and resumed it, the script restarted from file one and re-downloaded everything. That matters because it's 807 files. I added a check that skips anything already on disk, so it can pause and resume safely.</a:t>
            </a:r>
            <a:endParaRPr sz="1100"/>
          </a:p>
          <a:p>
            <a:pPr indent="457200" lvl="0" marL="0" rtl="0" algn="l">
              <a:lnSpc>
                <a:spcPct val="115000"/>
              </a:lnSpc>
              <a:spcBef>
                <a:spcPts val="1200"/>
              </a:spcBef>
              <a:spcAft>
                <a:spcPts val="0"/>
              </a:spcAft>
              <a:buClr>
                <a:schemeClr val="dk1"/>
              </a:buClr>
              <a:buSzPts val="1100"/>
              <a:buFont typeface="Arial"/>
              <a:buNone/>
            </a:pPr>
            <a:r>
              <a:rPr lang="en-GB" sz="1100"/>
              <a:t>And extract-known-sites was crashing on a UTF-8 byte it couldn't decode and on Windows backslash paths. I added UTF-8 handling and switched to os.path.basename so it stops crashing on both.</a:t>
            </a:r>
            <a:endParaRPr sz="1100"/>
          </a:p>
          <a:p>
            <a:pPr indent="0" lvl="0" marL="0" rtl="0" algn="l">
              <a:lnSpc>
                <a:spcPct val="115000"/>
              </a:lnSpc>
              <a:spcBef>
                <a:spcPts val="1200"/>
              </a:spcBef>
              <a:spcAft>
                <a:spcPts val="0"/>
              </a:spcAft>
              <a:buClr>
                <a:schemeClr val="dk1"/>
              </a:buClr>
              <a:buSzPts val="1100"/>
              <a:buFont typeface="Arial"/>
              <a:buNone/>
            </a:pPr>
            <a:r>
              <a:rPr b="1" lang="en-GB" sz="1100"/>
              <a:t>Data downloaded </a:t>
            </a:r>
            <a:r>
              <a:rPr lang="en-GB" sz="1100"/>
              <a:t>These are the actual outputs. The number I'd point to is the last one, known_sites.csv with 312,064 sites. That's the ground-truth positive set that everything downstream trains and validates against, so it's the real deliverable here. The rest is the supporting data: 174 GlyGen reference files across 16 species, the 5.7 GB PubTator NER dump, the 648,000 gene records, and the 807 PubMed XML files.</a:t>
            </a:r>
            <a:endParaRPr sz="1100"/>
          </a:p>
          <a:p>
            <a:pPr indent="0" lvl="0" marL="0" rtl="0" algn="l">
              <a:lnSpc>
                <a:spcPct val="115000"/>
              </a:lnSpc>
              <a:spcBef>
                <a:spcPts val="1200"/>
              </a:spcBef>
              <a:spcAft>
                <a:spcPts val="0"/>
              </a:spcAft>
              <a:buClr>
                <a:schemeClr val="dk1"/>
              </a:buClr>
              <a:buSzPts val="1100"/>
              <a:buFont typeface="Arial"/>
              <a:buNone/>
            </a:pPr>
            <a:r>
              <a:rPr lang="en-GB" sz="1100"/>
              <a:t>While I was reading the code I found the root causes behind problems we'd already been seeing in curation, which felt like a nice payoff. The wrong-accession mix-ups trace back to load_geneid2canon: its Ensembl bridge path just adds every matching accession with no disambiguation, so wrong ones propagate. The C-3 parsing bug is the parser reading sugar carbon positions as cysteine residues. The LLM prompt never tells the model to distinguish glycosylation from other PTMs, which is exactly why we keep getting tyrosine phosphorylation false positives. And there's a KeyError waiting to happen because config references a mode key that isn't in config.json. All of this is written up in the README with specifics.</a:t>
            </a:r>
            <a:endParaRPr sz="1100"/>
          </a:p>
          <a:p>
            <a:pPr indent="0" lvl="0" marL="0" rtl="0" algn="l">
              <a:lnSpc>
                <a:spcPct val="115000"/>
              </a:lnSpc>
              <a:spcBef>
                <a:spcPts val="1200"/>
              </a:spcBef>
              <a:spcAft>
                <a:spcPts val="0"/>
              </a:spcAft>
              <a:buClr>
                <a:schemeClr val="dk1"/>
              </a:buClr>
              <a:buSzPts val="1100"/>
              <a:buFont typeface="Arial"/>
              <a:buNone/>
            </a:pPr>
            <a:r>
              <a:rPr b="1" lang="en-GB" sz="1100"/>
              <a:t>What's next</a:t>
            </a:r>
            <a:r>
              <a:rPr lang="en-GB" sz="1100"/>
              <a:t> Two things. First, confirm with Robel that our curation output is actually reaching the path load_curated_neg expects, since it's hardcoded. Then we can start on the v2.0 priorities, beginning with the synthetic negative-labeling fix and building a clean gold evaluation set.</a:t>
            </a:r>
            <a:endParaRPr sz="1100"/>
          </a:p>
          <a:p>
            <a:pPr indent="0" lvl="0" marL="0" rtl="0" algn="l">
              <a:lnSpc>
                <a:spcPct val="100000"/>
              </a:lnSpc>
              <a:spcBef>
                <a:spcPts val="1200"/>
              </a:spcBef>
              <a:spcAft>
                <a:spcPts val="0"/>
              </a:spcAft>
              <a:buSzPts val="1400"/>
              <a:buNone/>
            </a:pPr>
            <a:r>
              <a:t/>
            </a:r>
            <a:endParaRPr/>
          </a:p>
        </p:txBody>
      </p:sp>
      <p:sp>
        <p:nvSpPr>
          <p:cNvPr id="115" name="Google Shape;115;g3ea3b34c08c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ea3b34c08c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g3ea3b34c08c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914400" y="1122363"/>
            <a:ext cx="103632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0"/>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0"/>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0"/>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1"/>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1"/>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1"/>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1"/>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25"/>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5"/>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6"/>
          <p:cNvSpPr txBox="1"/>
          <p:nvPr>
            <p:ph type="title"/>
          </p:nvPr>
        </p:nvSpPr>
        <p:spPr>
          <a:xfrm>
            <a:off x="831851" y="1709740"/>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6"/>
          <p:cNvSpPr txBox="1"/>
          <p:nvPr>
            <p:ph idx="1" type="body"/>
          </p:nvPr>
        </p:nvSpPr>
        <p:spPr>
          <a:xfrm>
            <a:off x="831851" y="4589465"/>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26"/>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6"/>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6"/>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7"/>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7"/>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8"/>
          <p:cNvSpPr txBox="1"/>
          <p:nvPr>
            <p:ph type="title"/>
          </p:nvPr>
        </p:nvSpPr>
        <p:spPr>
          <a:xfrm>
            <a:off x="839788"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 type="body"/>
          </p:nvPr>
        </p:nvSpPr>
        <p:spPr>
          <a:xfrm>
            <a:off x="839789"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28"/>
          <p:cNvSpPr txBox="1"/>
          <p:nvPr>
            <p:ph idx="2" type="body"/>
          </p:nvPr>
        </p:nvSpPr>
        <p:spPr>
          <a:xfrm>
            <a:off x="839789"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8"/>
          <p:cNvSpPr txBox="1"/>
          <p:nvPr>
            <p:ph idx="3" type="body"/>
          </p:nvPr>
        </p:nvSpPr>
        <p:spPr>
          <a:xfrm>
            <a:off x="6172201"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28"/>
          <p:cNvSpPr txBox="1"/>
          <p:nvPr>
            <p:ph idx="4" type="body"/>
          </p:nvPr>
        </p:nvSpPr>
        <p:spPr>
          <a:xfrm>
            <a:off x="6172201"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8"/>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8"/>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8"/>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9"/>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9"/>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9"/>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9"/>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 type="body"/>
          </p:nvPr>
        </p:nvSpPr>
        <p:spPr>
          <a:xfrm>
            <a:off x="5183188" y="987427"/>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0"/>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0"/>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p:nvPr>
            <p:ph idx="2" type="pic"/>
          </p:nvPr>
        </p:nvSpPr>
        <p:spPr>
          <a:xfrm>
            <a:off x="5183188" y="987427"/>
            <a:ext cx="6172200" cy="4873625"/>
          </a:xfrm>
          <a:prstGeom prst="rect">
            <a:avLst/>
          </a:prstGeom>
          <a:noFill/>
          <a:ln>
            <a:noFill/>
          </a:ln>
        </p:spPr>
      </p:sp>
      <p:sp>
        <p:nvSpPr>
          <p:cNvPr id="68" name="Google Shape;68;p3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1"/>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1"/>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1"/>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2"/>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2"/>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2"/>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2"/>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3"/>
          <p:cNvSpPr txBox="1"/>
          <p:nvPr>
            <p:ph type="title"/>
          </p:nvPr>
        </p:nvSpPr>
        <p:spPr>
          <a:xfrm rot="5400000">
            <a:off x="7133432"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3"/>
          <p:cNvSpPr txBox="1"/>
          <p:nvPr>
            <p:ph idx="1" type="body"/>
          </p:nvPr>
        </p:nvSpPr>
        <p:spPr>
          <a:xfrm rot="5400000">
            <a:off x="1799432"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3"/>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3"/>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3"/>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0.png"/><Relationship Id="rId6"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png"/><Relationship Id="rId9"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hyperlink" Target="https://github.com/N3haRao/glycositeminer-curation/tree/main/GlycoSiteMiner-v2.0" TargetMode="External"/><Relationship Id="rId7" Type="http://schemas.openxmlformats.org/officeDocument/2006/relationships/image" Target="../media/image5.png"/><Relationship Id="rId8"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
          <p:cNvPicPr preferRelativeResize="0"/>
          <p:nvPr/>
        </p:nvPicPr>
        <p:blipFill rotWithShape="1">
          <a:blip r:embed="rId3">
            <a:alphaModFix/>
          </a:blip>
          <a:srcRect b="0" l="0" r="0" t="0"/>
          <a:stretch/>
        </p:blipFill>
        <p:spPr>
          <a:xfrm>
            <a:off x="0" y="1"/>
            <a:ext cx="12227439" cy="6858000"/>
          </a:xfrm>
          <a:prstGeom prst="rect">
            <a:avLst/>
          </a:prstGeom>
          <a:noFill/>
          <a:ln>
            <a:noFill/>
          </a:ln>
        </p:spPr>
      </p:pic>
      <p:sp>
        <p:nvSpPr>
          <p:cNvPr id="90" name="Google Shape;90;p1"/>
          <p:cNvSpPr/>
          <p:nvPr>
            <p:ph type="ctrTitle"/>
          </p:nvPr>
        </p:nvSpPr>
        <p:spPr>
          <a:xfrm>
            <a:off x="2375500" y="2228900"/>
            <a:ext cx="7440900" cy="3457200"/>
          </a:xfrm>
          <a:prstGeom prst="flowChartAlternateProcess">
            <a:avLst/>
          </a:prstGeom>
          <a:solidFill>
            <a:schemeClr val="lt1"/>
          </a:solidFill>
          <a:ln cap="flat" cmpd="sng" w="38100">
            <a:solidFill>
              <a:srgbClr val="2F5496"/>
            </a:solidFill>
            <a:prstDash val="solid"/>
            <a:miter lim="80"/>
            <a:headEnd len="sm" w="sm" type="none"/>
            <a:tailEnd len="sm" w="sm" type="none"/>
          </a:ln>
        </p:spPr>
        <p:txBody>
          <a:bodyPr anchorCtr="0" anchor="t" bIns="45700" lIns="91425" spcFirstLastPara="1" rIns="91425" wrap="square" tIns="108000">
            <a:normAutofit fontScale="90000"/>
          </a:bodyPr>
          <a:lstStyle/>
          <a:p>
            <a:pPr indent="0" lvl="0" marL="0" rtl="0" algn="ctr">
              <a:lnSpc>
                <a:spcPct val="90000"/>
              </a:lnSpc>
              <a:spcBef>
                <a:spcPts val="0"/>
              </a:spcBef>
              <a:spcAft>
                <a:spcPts val="0"/>
              </a:spcAft>
              <a:buClr>
                <a:srgbClr val="009644"/>
              </a:buClr>
              <a:buSzPts val="853"/>
              <a:buFont typeface="Calibri"/>
              <a:buNone/>
            </a:pPr>
            <a:r>
              <a:rPr b="1" lang="en-GB" sz="4320">
                <a:solidFill>
                  <a:srgbClr val="009644"/>
                </a:solidFill>
              </a:rPr>
              <a:t>GlycoSiteMiner Volunteership Summer 2026</a:t>
            </a:r>
            <a:endParaRPr b="1" sz="4760">
              <a:solidFill>
                <a:srgbClr val="009644"/>
              </a:solidFill>
            </a:endParaRPr>
          </a:p>
          <a:p>
            <a:pPr indent="0" lvl="0" marL="0" rtl="0" algn="ctr">
              <a:lnSpc>
                <a:spcPct val="90000"/>
              </a:lnSpc>
              <a:spcBef>
                <a:spcPts val="0"/>
              </a:spcBef>
              <a:spcAft>
                <a:spcPts val="0"/>
              </a:spcAft>
              <a:buClr>
                <a:srgbClr val="009644"/>
              </a:buClr>
              <a:buSzPct val="37041"/>
              <a:buFont typeface="Calibri"/>
              <a:buNone/>
            </a:pPr>
            <a:br>
              <a:rPr b="1" lang="en-GB" sz="2558">
                <a:solidFill>
                  <a:srgbClr val="009644"/>
                </a:solidFill>
                <a:latin typeface="Calibri"/>
                <a:ea typeface="Calibri"/>
                <a:cs typeface="Calibri"/>
                <a:sym typeface="Calibri"/>
              </a:rPr>
            </a:br>
            <a:r>
              <a:rPr lang="en-GB" sz="4291"/>
              <a:t>GlycoSiteMiner tool critique and volunteer progress</a:t>
            </a:r>
            <a:endParaRPr sz="4291"/>
          </a:p>
          <a:p>
            <a:pPr indent="0" lvl="0" marL="0" rtl="0" algn="ctr">
              <a:lnSpc>
                <a:spcPct val="90000"/>
              </a:lnSpc>
              <a:spcBef>
                <a:spcPts val="0"/>
              </a:spcBef>
              <a:spcAft>
                <a:spcPts val="0"/>
              </a:spcAft>
              <a:buClr>
                <a:srgbClr val="009644"/>
              </a:buClr>
              <a:buSzPct val="48420"/>
              <a:buFont typeface="Calibri"/>
              <a:buNone/>
            </a:pPr>
            <a:r>
              <a:t/>
            </a:r>
            <a:endParaRPr sz="1958"/>
          </a:p>
          <a:p>
            <a:pPr indent="0" lvl="0" marL="0" rtl="0" algn="ctr">
              <a:lnSpc>
                <a:spcPct val="90000"/>
              </a:lnSpc>
              <a:spcBef>
                <a:spcPts val="0"/>
              </a:spcBef>
              <a:spcAft>
                <a:spcPts val="0"/>
              </a:spcAft>
              <a:buClr>
                <a:srgbClr val="009644"/>
              </a:buClr>
              <a:buSzPct val="43240"/>
              <a:buFont typeface="Calibri"/>
              <a:buNone/>
            </a:pPr>
            <a:r>
              <a:rPr lang="en-GB" sz="2192"/>
              <a:t>17th </a:t>
            </a:r>
            <a:r>
              <a:rPr lang="en-GB" sz="2192"/>
              <a:t>June 2026</a:t>
            </a:r>
            <a:endParaRPr sz="2192"/>
          </a:p>
        </p:txBody>
      </p:sp>
      <p:pic>
        <p:nvPicPr>
          <p:cNvPr descr="A white text on a black background&#10;&#10;Description automatically generated" id="91" name="Google Shape;91;p1"/>
          <p:cNvPicPr preferRelativeResize="0"/>
          <p:nvPr/>
        </p:nvPicPr>
        <p:blipFill rotWithShape="1">
          <a:blip r:embed="rId4">
            <a:alphaModFix/>
          </a:blip>
          <a:srcRect b="0" l="0" r="0" t="0"/>
          <a:stretch/>
        </p:blipFill>
        <p:spPr>
          <a:xfrm>
            <a:off x="3241029" y="716142"/>
            <a:ext cx="5837539" cy="112895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g3ea3b34c08c_0_40"/>
          <p:cNvPicPr preferRelativeResize="0"/>
          <p:nvPr/>
        </p:nvPicPr>
        <p:blipFill rotWithShape="1">
          <a:blip r:embed="rId3">
            <a:alphaModFix/>
          </a:blip>
          <a:srcRect b="24172" l="0" r="0" t="14956"/>
          <a:stretch/>
        </p:blipFill>
        <p:spPr>
          <a:xfrm>
            <a:off x="25" y="0"/>
            <a:ext cx="12192000" cy="1301462"/>
          </a:xfrm>
          <a:custGeom>
            <a:rect b="b" l="l" r="r" t="t"/>
            <a:pathLst>
              <a:path extrusionOk="0" h="3692092" w="12192000">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ln>
            <a:noFill/>
          </a:ln>
        </p:spPr>
      </p:pic>
      <p:pic>
        <p:nvPicPr>
          <p:cNvPr id="97" name="Google Shape;97;g3ea3b34c08c_0_40"/>
          <p:cNvPicPr preferRelativeResize="0"/>
          <p:nvPr/>
        </p:nvPicPr>
        <p:blipFill rotWithShape="1">
          <a:blip r:embed="rId4">
            <a:alphaModFix/>
          </a:blip>
          <a:srcRect b="0" l="0" r="0" t="0"/>
          <a:stretch/>
        </p:blipFill>
        <p:spPr>
          <a:xfrm>
            <a:off x="10756711" y="218823"/>
            <a:ext cx="1295274" cy="206365"/>
          </a:xfrm>
          <a:prstGeom prst="rect">
            <a:avLst/>
          </a:prstGeom>
          <a:noFill/>
          <a:ln>
            <a:noFill/>
          </a:ln>
        </p:spPr>
      </p:pic>
      <p:sp>
        <p:nvSpPr>
          <p:cNvPr id="98" name="Google Shape;98;g3ea3b34c08c_0_40"/>
          <p:cNvSpPr txBox="1"/>
          <p:nvPr>
            <p:ph type="title"/>
          </p:nvPr>
        </p:nvSpPr>
        <p:spPr>
          <a:xfrm>
            <a:off x="838200" y="-38290"/>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GB">
                <a:solidFill>
                  <a:schemeClr val="lt1"/>
                </a:solidFill>
              </a:rPr>
              <a:t>GlycoSiteMiner Critique</a:t>
            </a:r>
            <a:endParaRPr b="1">
              <a:solidFill>
                <a:schemeClr val="lt1"/>
              </a:solidFill>
            </a:endParaRPr>
          </a:p>
        </p:txBody>
      </p:sp>
      <p:sp>
        <p:nvSpPr>
          <p:cNvPr id="99" name="Google Shape;99;g3ea3b34c08c_0_40"/>
          <p:cNvSpPr txBox="1"/>
          <p:nvPr>
            <p:ph idx="1" type="body"/>
          </p:nvPr>
        </p:nvSpPr>
        <p:spPr>
          <a:xfrm>
            <a:off x="227650" y="1697825"/>
            <a:ext cx="3951000" cy="43512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0" lvl="0" marL="0" rtl="0" algn="l">
              <a:lnSpc>
                <a:spcPct val="90000"/>
              </a:lnSpc>
              <a:spcBef>
                <a:spcPts val="1000"/>
              </a:spcBef>
              <a:spcAft>
                <a:spcPts val="0"/>
              </a:spcAft>
              <a:buSzPct val="69231"/>
              <a:buNone/>
            </a:pPr>
            <a:r>
              <a:rPr lang="en-GB" sz="2600"/>
              <a:t>Successes: </a:t>
            </a:r>
            <a:br>
              <a:rPr lang="en-GB" sz="2600"/>
            </a:br>
            <a:endParaRPr sz="2600"/>
          </a:p>
          <a:p>
            <a:pPr indent="0" lvl="0" marL="0" rtl="0" algn="l">
              <a:lnSpc>
                <a:spcPct val="90000"/>
              </a:lnSpc>
              <a:spcBef>
                <a:spcPts val="1000"/>
              </a:spcBef>
              <a:spcAft>
                <a:spcPts val="0"/>
              </a:spcAft>
              <a:buSzPct val="69231"/>
              <a:buNone/>
            </a:pPr>
            <a:r>
              <a:rPr lang="en-GB" sz="2600"/>
              <a:t>-able to run ¾ scripts on git bash using program “git bash for windows” </a:t>
            </a:r>
            <a:endParaRPr sz="2600"/>
          </a:p>
          <a:p>
            <a:pPr indent="0" lvl="0" marL="0" rtl="0" algn="l">
              <a:lnSpc>
                <a:spcPct val="90000"/>
              </a:lnSpc>
              <a:spcBef>
                <a:spcPts val="1000"/>
              </a:spcBef>
              <a:spcAft>
                <a:spcPts val="0"/>
              </a:spcAft>
              <a:buSzPct val="69231"/>
              <a:buNone/>
            </a:pPr>
            <a:r>
              <a:rPr lang="en-GB" sz="2600"/>
              <a:t>-not familiar with linux environment but began teaching myself the basics via online documentation</a:t>
            </a:r>
            <a:endParaRPr sz="2600"/>
          </a:p>
          <a:p>
            <a:pPr indent="0" lvl="0" marL="0" rtl="0" algn="l">
              <a:lnSpc>
                <a:spcPct val="90000"/>
              </a:lnSpc>
              <a:spcBef>
                <a:spcPts val="1000"/>
              </a:spcBef>
              <a:spcAft>
                <a:spcPts val="0"/>
              </a:spcAft>
              <a:buSzPct val="69231"/>
              <a:buNone/>
            </a:pPr>
            <a:r>
              <a:t/>
            </a:r>
            <a:endParaRPr sz="2600"/>
          </a:p>
          <a:p>
            <a:pPr indent="0" lvl="0" marL="0" rtl="0" algn="l">
              <a:lnSpc>
                <a:spcPct val="90000"/>
              </a:lnSpc>
              <a:spcBef>
                <a:spcPts val="1000"/>
              </a:spcBef>
              <a:spcAft>
                <a:spcPts val="0"/>
              </a:spcAft>
              <a:buSzPct val="69231"/>
              <a:buNone/>
            </a:pPr>
            <a:r>
              <a:rPr lang="en-GB" sz="2600"/>
              <a:t>-reviewed around 40-50 PMIDs this week</a:t>
            </a:r>
            <a:endParaRPr sz="2600"/>
          </a:p>
          <a:p>
            <a:pPr indent="0" lvl="0" marL="0" rtl="0" algn="l">
              <a:lnSpc>
                <a:spcPct val="90000"/>
              </a:lnSpc>
              <a:spcBef>
                <a:spcPts val="1000"/>
              </a:spcBef>
              <a:spcAft>
                <a:spcPts val="0"/>
              </a:spcAft>
              <a:buSzPct val="64286"/>
              <a:buNone/>
            </a:pPr>
            <a:r>
              <a:t/>
            </a:r>
            <a:endParaRPr/>
          </a:p>
        </p:txBody>
      </p:sp>
      <p:sp>
        <p:nvSpPr>
          <p:cNvPr id="100" name="Google Shape;100;g3ea3b34c08c_0_40"/>
          <p:cNvSpPr txBox="1"/>
          <p:nvPr/>
        </p:nvSpPr>
        <p:spPr>
          <a:xfrm>
            <a:off x="9051975" y="6293225"/>
            <a:ext cx="3000000" cy="523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2200"/>
              <a:buFont typeface="Arial"/>
              <a:buNone/>
            </a:pPr>
            <a:r>
              <a:rPr b="0" i="0" lang="en-GB" sz="2200" u="none" cap="none" strike="noStrike">
                <a:solidFill>
                  <a:srgbClr val="000000"/>
                </a:solidFill>
                <a:latin typeface="Arial"/>
                <a:ea typeface="Arial"/>
                <a:cs typeface="Arial"/>
                <a:sym typeface="Arial"/>
              </a:rPr>
              <a:t>John McCaffrey</a:t>
            </a:r>
            <a:endParaRPr b="0" i="0" sz="2200" u="none" cap="none" strike="noStrike">
              <a:solidFill>
                <a:srgbClr val="000000"/>
              </a:solidFill>
              <a:latin typeface="Arial"/>
              <a:ea typeface="Arial"/>
              <a:cs typeface="Arial"/>
              <a:sym typeface="Arial"/>
            </a:endParaRPr>
          </a:p>
        </p:txBody>
      </p:sp>
      <p:sp>
        <p:nvSpPr>
          <p:cNvPr id="101" name="Google Shape;101;g3ea3b34c08c_0_40"/>
          <p:cNvSpPr txBox="1"/>
          <p:nvPr/>
        </p:nvSpPr>
        <p:spPr>
          <a:xfrm>
            <a:off x="4398975" y="1659425"/>
            <a:ext cx="7653000" cy="4739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90000"/>
              </a:lnSpc>
              <a:spcBef>
                <a:spcPts val="1000"/>
              </a:spcBef>
              <a:spcAft>
                <a:spcPts val="0"/>
              </a:spcAft>
              <a:buClr>
                <a:srgbClr val="000000"/>
              </a:buClr>
              <a:buSzPts val="2600"/>
              <a:buFont typeface="Arial"/>
              <a:buNone/>
            </a:pPr>
            <a:r>
              <a:rPr b="0" i="0" lang="en-GB" sz="2600" u="none" cap="none" strike="noStrike">
                <a:solidFill>
                  <a:schemeClr val="dk1"/>
                </a:solidFill>
                <a:latin typeface="Calibri"/>
                <a:ea typeface="Calibri"/>
                <a:cs typeface="Calibri"/>
                <a:sym typeface="Calibri"/>
              </a:rPr>
              <a:t>Suggestions + issues (Highest priority)</a:t>
            </a:r>
            <a:br>
              <a:rPr b="0" i="0" lang="en-GB" sz="2600" u="none" cap="none" strike="noStrike">
                <a:solidFill>
                  <a:schemeClr val="dk1"/>
                </a:solidFill>
                <a:latin typeface="Calibri"/>
                <a:ea typeface="Calibri"/>
                <a:cs typeface="Calibri"/>
                <a:sym typeface="Calibri"/>
              </a:rPr>
            </a:br>
            <a:endParaRPr b="0" i="0" sz="20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rgbClr val="000000"/>
              </a:buClr>
              <a:buSzPts val="2600"/>
              <a:buFont typeface="Arial"/>
              <a:buNone/>
            </a:pPr>
            <a:r>
              <a:rPr b="0" i="0" lang="en-GB" sz="1600" u="none" cap="none" strike="noStrike">
                <a:solidFill>
                  <a:schemeClr val="dk1"/>
                </a:solidFill>
                <a:latin typeface="Calibri"/>
                <a:ea typeface="Calibri"/>
                <a:cs typeface="Calibri"/>
                <a:sym typeface="Calibri"/>
              </a:rPr>
              <a:t>-feature to flag completely unrelated abstracts (either other PTMs or things like demographic studies, etc.) - remains from week 1, I believe it will save us effort long run</a:t>
            </a:r>
            <a:endParaRPr b="0" i="0" sz="16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rgbClr val="000000"/>
              </a:buClr>
              <a:buSzPts val="2600"/>
              <a:buFont typeface="Arial"/>
              <a:buNone/>
            </a:pPr>
            <a:r>
              <a:rPr b="0" i="0" lang="en-GB" sz="1600" u="none" cap="none" strike="noStrike">
                <a:solidFill>
                  <a:schemeClr val="dk1"/>
                </a:solidFill>
                <a:latin typeface="Calibri"/>
                <a:ea typeface="Calibri"/>
                <a:cs typeface="Calibri"/>
                <a:sym typeface="Calibri"/>
              </a:rPr>
              <a:t>-</a:t>
            </a:r>
            <a:r>
              <a:rPr lang="en-GB" sz="1600">
                <a:solidFill>
                  <a:schemeClr val="dk1"/>
                </a:solidFill>
                <a:latin typeface="Calibri"/>
                <a:ea typeface="Calibri"/>
                <a:cs typeface="Calibri"/>
                <a:sym typeface="Calibri"/>
              </a:rPr>
              <a:t>more qualitative options behind “direct” and “indirect” with the methodology used / option to add a new methodology if not present, THEN categorizing it as direct or indirect on top of that </a:t>
            </a:r>
            <a:endParaRPr b="0" i="0" sz="16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rgbClr val="000000"/>
              </a:buClr>
              <a:buSzPts val="2600"/>
              <a:buFont typeface="Arial"/>
              <a:buNone/>
            </a:pPr>
            <a:r>
              <a:rPr b="0" i="0" lang="en-GB" sz="1600" u="none" cap="none" strike="noStrike">
                <a:solidFill>
                  <a:schemeClr val="dk1"/>
                </a:solidFill>
                <a:latin typeface="Calibri"/>
                <a:ea typeface="Calibri"/>
                <a:cs typeface="Calibri"/>
                <a:sym typeface="Calibri"/>
              </a:rPr>
              <a:t>-</a:t>
            </a:r>
            <a:r>
              <a:rPr lang="en-GB" sz="1600">
                <a:solidFill>
                  <a:schemeClr val="dk1"/>
                </a:solidFill>
                <a:latin typeface="Calibri"/>
                <a:ea typeface="Calibri"/>
                <a:cs typeface="Calibri"/>
                <a:sym typeface="Calibri"/>
              </a:rPr>
              <a:t>(agreement with Neha) confidence intervals directly on the site page associated with glycositeminer website (e.g. if we are already on the fence, if LLM already has low confidence we are more concretely able to make a decision)</a:t>
            </a:r>
            <a:endParaRPr sz="16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rgbClr val="000000"/>
              </a:buClr>
              <a:buSzPts val="2600"/>
              <a:buFont typeface="Arial"/>
              <a:buNone/>
            </a:pPr>
            <a:r>
              <a:rPr lang="en-GB" sz="1600">
                <a:solidFill>
                  <a:schemeClr val="dk1"/>
                </a:solidFill>
                <a:latin typeface="Calibri"/>
                <a:ea typeface="Calibri"/>
                <a:cs typeface="Calibri"/>
                <a:sym typeface="Calibri"/>
              </a:rPr>
              <a:t>-unable to get medline script to run on git bash windows after extensive troubleshooting</a:t>
            </a:r>
            <a:endParaRPr sz="16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rgbClr val="000000"/>
              </a:buClr>
              <a:buSzPts val="2600"/>
              <a:buFont typeface="Arial"/>
              <a:buNone/>
            </a:pPr>
            <a:r>
              <a:t/>
            </a:r>
            <a:endParaRPr sz="16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rgbClr val="000000"/>
              </a:buClr>
              <a:buSzPts val="2600"/>
              <a:buFont typeface="Arial"/>
              <a:buNone/>
            </a:pPr>
            <a:r>
              <a:rPr lang="en-GB" sz="1600">
                <a:solidFill>
                  <a:schemeClr val="dk1"/>
                </a:solidFill>
                <a:latin typeface="Calibri"/>
                <a:ea typeface="Calibri"/>
                <a:cs typeface="Calibri"/>
                <a:sym typeface="Calibri"/>
              </a:rPr>
              <a:t>-additional question: why linux environment for the project preferred in first place vs. environment agnostic scripts?</a:t>
            </a:r>
            <a:endParaRPr sz="16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rgbClr val="000000"/>
              </a:buClr>
              <a:buSzPts val="2600"/>
              <a:buFont typeface="Arial"/>
              <a:buNone/>
            </a:pPr>
            <a:r>
              <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2"/>
          <p:cNvPicPr preferRelativeResize="0"/>
          <p:nvPr/>
        </p:nvPicPr>
        <p:blipFill rotWithShape="1">
          <a:blip r:embed="rId3">
            <a:alphaModFix/>
          </a:blip>
          <a:srcRect b="24172" l="0" r="0" t="14958"/>
          <a:stretch/>
        </p:blipFill>
        <p:spPr>
          <a:xfrm>
            <a:off x="25" y="0"/>
            <a:ext cx="12192000" cy="1301462"/>
          </a:xfrm>
          <a:custGeom>
            <a:rect b="b" l="l" r="r" t="t"/>
            <a:pathLst>
              <a:path extrusionOk="0" h="3692092" w="12192000">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ln>
            <a:noFill/>
          </a:ln>
        </p:spPr>
      </p:pic>
      <p:pic>
        <p:nvPicPr>
          <p:cNvPr id="107" name="Google Shape;107;p2"/>
          <p:cNvPicPr preferRelativeResize="0"/>
          <p:nvPr/>
        </p:nvPicPr>
        <p:blipFill rotWithShape="1">
          <a:blip r:embed="rId4">
            <a:alphaModFix/>
          </a:blip>
          <a:srcRect b="0" l="0" r="0" t="0"/>
          <a:stretch/>
        </p:blipFill>
        <p:spPr>
          <a:xfrm>
            <a:off x="10756711" y="218823"/>
            <a:ext cx="1295274" cy="206365"/>
          </a:xfrm>
          <a:prstGeom prst="rect">
            <a:avLst/>
          </a:prstGeom>
          <a:noFill/>
          <a:ln>
            <a:noFill/>
          </a:ln>
        </p:spPr>
      </p:pic>
      <p:sp>
        <p:nvSpPr>
          <p:cNvPr id="108" name="Google Shape;108;p2"/>
          <p:cNvSpPr txBox="1"/>
          <p:nvPr>
            <p:ph type="title"/>
          </p:nvPr>
        </p:nvSpPr>
        <p:spPr>
          <a:xfrm>
            <a:off x="838200" y="-38290"/>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GB">
                <a:solidFill>
                  <a:schemeClr val="lt1"/>
                </a:solidFill>
              </a:rPr>
              <a:t>GlycoSiteMiner Critique</a:t>
            </a:r>
            <a:endParaRPr b="1">
              <a:solidFill>
                <a:schemeClr val="lt1"/>
              </a:solidFill>
            </a:endParaRPr>
          </a:p>
        </p:txBody>
      </p:sp>
      <p:sp>
        <p:nvSpPr>
          <p:cNvPr id="109" name="Google Shape;109;p2"/>
          <p:cNvSpPr txBox="1"/>
          <p:nvPr>
            <p:ph idx="1" type="body"/>
          </p:nvPr>
        </p:nvSpPr>
        <p:spPr>
          <a:xfrm>
            <a:off x="838200" y="1363925"/>
            <a:ext cx="10421700" cy="4929300"/>
          </a:xfrm>
          <a:prstGeom prst="rect">
            <a:avLst/>
          </a:prstGeom>
          <a:noFill/>
          <a:ln>
            <a:noFill/>
          </a:ln>
        </p:spPr>
        <p:txBody>
          <a:bodyPr anchorCtr="0" anchor="t" bIns="0" lIns="72000" spcFirstLastPara="1" rIns="36000" wrap="square" tIns="108000">
            <a:normAutofit fontScale="85000" lnSpcReduction="10000"/>
          </a:bodyPr>
          <a:lstStyle/>
          <a:p>
            <a:pPr indent="0" lvl="0" marL="0" rtl="0" algn="ctr">
              <a:lnSpc>
                <a:spcPct val="100000"/>
              </a:lnSpc>
              <a:spcBef>
                <a:spcPts val="0"/>
              </a:spcBef>
              <a:spcAft>
                <a:spcPts val="0"/>
              </a:spcAft>
              <a:buSzPct val="105864"/>
              <a:buNone/>
            </a:pPr>
            <a:r>
              <a:rPr b="1" lang="en-GB" sz="2429"/>
              <a:t>Observation Summary</a:t>
            </a:r>
            <a:endParaRPr b="1" sz="2429"/>
          </a:p>
          <a:p>
            <a:pPr indent="0" lvl="0" marL="0" rtl="0" algn="l">
              <a:lnSpc>
                <a:spcPct val="115000"/>
              </a:lnSpc>
              <a:spcBef>
                <a:spcPts val="0"/>
              </a:spcBef>
              <a:spcAft>
                <a:spcPts val="0"/>
              </a:spcAft>
              <a:buSzPct val="120951"/>
              <a:buNone/>
            </a:pPr>
            <a:r>
              <a:t/>
            </a:r>
            <a:endParaRPr sz="2126"/>
          </a:p>
          <a:p>
            <a:pPr indent="0" lvl="0" marL="0" rtl="0" algn="l">
              <a:lnSpc>
                <a:spcPct val="115000"/>
              </a:lnSpc>
              <a:spcBef>
                <a:spcPts val="0"/>
              </a:spcBef>
              <a:spcAft>
                <a:spcPts val="0"/>
              </a:spcAft>
              <a:buClr>
                <a:schemeClr val="dk1"/>
              </a:buClr>
              <a:buSzPct val="51747"/>
              <a:buFont typeface="Arial"/>
              <a:buNone/>
            </a:pPr>
            <a:r>
              <a:rPr i="1" lang="en-GB" sz="2126">
                <a:solidFill>
                  <a:srgbClr val="2F5496"/>
                </a:solidFill>
              </a:rPr>
              <a:t>Tool Performance</a:t>
            </a:r>
            <a:endParaRPr i="1" sz="2126">
              <a:solidFill>
                <a:srgbClr val="2F5496"/>
              </a:solidFill>
            </a:endParaRPr>
          </a:p>
          <a:p>
            <a:pPr indent="-343351" lvl="0" marL="457200" rtl="0" algn="l">
              <a:lnSpc>
                <a:spcPct val="115000"/>
              </a:lnSpc>
              <a:spcBef>
                <a:spcPts val="1200"/>
              </a:spcBef>
              <a:spcAft>
                <a:spcPts val="0"/>
              </a:spcAft>
              <a:buSzPct val="100000"/>
              <a:buChar char="●"/>
            </a:pPr>
            <a:r>
              <a:rPr lang="en-GB" sz="2126"/>
              <a:t>Previously Identified</a:t>
            </a:r>
            <a:r>
              <a:rPr lang="en-GB" sz="2126"/>
              <a:t> Errors:</a:t>
            </a:r>
            <a:endParaRPr sz="2126"/>
          </a:p>
          <a:p>
            <a:pPr indent="-343351" lvl="1" marL="914400" rtl="0" algn="l">
              <a:lnSpc>
                <a:spcPct val="115000"/>
              </a:lnSpc>
              <a:spcBef>
                <a:spcPts val="0"/>
              </a:spcBef>
              <a:spcAft>
                <a:spcPts val="0"/>
              </a:spcAft>
              <a:buSzPct val="100000"/>
              <a:buChar char="○"/>
            </a:pPr>
            <a:r>
              <a:rPr lang="en-GB" sz="2126"/>
              <a:t>Misidentifying gene/protein entities</a:t>
            </a:r>
            <a:endParaRPr sz="2126"/>
          </a:p>
          <a:p>
            <a:pPr indent="-343351" lvl="1" marL="914400" rtl="0" algn="l">
              <a:lnSpc>
                <a:spcPct val="115000"/>
              </a:lnSpc>
              <a:spcBef>
                <a:spcPts val="0"/>
              </a:spcBef>
              <a:spcAft>
                <a:spcPts val="0"/>
              </a:spcAft>
              <a:buSzPct val="100000"/>
              <a:buChar char="○"/>
            </a:pPr>
            <a:r>
              <a:rPr lang="en-GB" sz="2126"/>
              <a:t>No gene/protein entity identified </a:t>
            </a:r>
            <a:endParaRPr sz="2126"/>
          </a:p>
          <a:p>
            <a:pPr indent="-343351" lvl="1" marL="914400" rtl="0" algn="l">
              <a:lnSpc>
                <a:spcPct val="115000"/>
              </a:lnSpc>
              <a:spcBef>
                <a:spcPts val="0"/>
              </a:spcBef>
              <a:spcAft>
                <a:spcPts val="0"/>
              </a:spcAft>
              <a:buSzPct val="100000"/>
              <a:buChar char="○"/>
            </a:pPr>
            <a:r>
              <a:rPr lang="en-GB" sz="2126"/>
              <a:t>Not identifying all listed glycosylation sites</a:t>
            </a:r>
            <a:endParaRPr sz="2126"/>
          </a:p>
          <a:p>
            <a:pPr indent="-343351" lvl="0" marL="457200" rtl="0" algn="l">
              <a:lnSpc>
                <a:spcPct val="115000"/>
              </a:lnSpc>
              <a:spcBef>
                <a:spcPts val="0"/>
              </a:spcBef>
              <a:spcAft>
                <a:spcPts val="0"/>
              </a:spcAft>
              <a:buSzPct val="100000"/>
              <a:buChar char="●"/>
            </a:pPr>
            <a:r>
              <a:rPr lang="en-GB" sz="2126"/>
              <a:t>New Tickets:</a:t>
            </a:r>
            <a:endParaRPr sz="2126"/>
          </a:p>
          <a:p>
            <a:pPr indent="-343351" lvl="1" marL="914400" rtl="0" algn="l">
              <a:lnSpc>
                <a:spcPct val="115000"/>
              </a:lnSpc>
              <a:spcBef>
                <a:spcPts val="0"/>
              </a:spcBef>
              <a:spcAft>
                <a:spcPts val="0"/>
              </a:spcAft>
              <a:buSzPct val="100000"/>
              <a:buChar char="○"/>
            </a:pPr>
            <a:r>
              <a:rPr lang="en-GB" sz="2126"/>
              <a:t>Update tool script to </a:t>
            </a:r>
            <a:r>
              <a:rPr lang="en-GB" sz="2126"/>
              <a:t>change</a:t>
            </a:r>
            <a:r>
              <a:rPr lang="en-GB" sz="2126"/>
              <a:t> curation value for PMIDs that receive “No” answer for first table</a:t>
            </a:r>
            <a:endParaRPr sz="2126"/>
          </a:p>
          <a:p>
            <a:pPr indent="0" lvl="0" marL="0" rtl="0" algn="l">
              <a:lnSpc>
                <a:spcPct val="115000"/>
              </a:lnSpc>
              <a:spcBef>
                <a:spcPts val="1200"/>
              </a:spcBef>
              <a:spcAft>
                <a:spcPts val="0"/>
              </a:spcAft>
              <a:buClr>
                <a:schemeClr val="dk1"/>
              </a:buClr>
              <a:buSzPct val="51747"/>
              <a:buFont typeface="Arial"/>
              <a:buNone/>
            </a:pPr>
            <a:r>
              <a:rPr i="1" lang="en-GB" sz="2126">
                <a:solidFill>
                  <a:srgbClr val="2F5496"/>
                </a:solidFill>
              </a:rPr>
              <a:t>Technical Progress</a:t>
            </a:r>
            <a:endParaRPr i="1" sz="2126">
              <a:solidFill>
                <a:srgbClr val="2F5496"/>
              </a:solidFill>
            </a:endParaRPr>
          </a:p>
          <a:p>
            <a:pPr indent="-343351" lvl="0" marL="457200" rtl="0" algn="l">
              <a:lnSpc>
                <a:spcPct val="115000"/>
              </a:lnSpc>
              <a:spcBef>
                <a:spcPts val="0"/>
              </a:spcBef>
              <a:spcAft>
                <a:spcPts val="0"/>
              </a:spcAft>
              <a:buSzPct val="100000"/>
              <a:buChar char="●"/>
            </a:pPr>
            <a:r>
              <a:rPr lang="en-GB" sz="2126"/>
              <a:t>Step 1</a:t>
            </a:r>
            <a:endParaRPr sz="2126"/>
          </a:p>
          <a:p>
            <a:pPr indent="-343351" lvl="1" marL="914400" rtl="0" algn="l">
              <a:lnSpc>
                <a:spcPct val="115000"/>
              </a:lnSpc>
              <a:spcBef>
                <a:spcPts val="0"/>
              </a:spcBef>
              <a:spcAft>
                <a:spcPts val="0"/>
              </a:spcAft>
              <a:buSzPct val="100000"/>
              <a:buChar char="○"/>
            </a:pPr>
            <a:r>
              <a:rPr lang="en-GB" sz="2126"/>
              <a:t>No issues encountered</a:t>
            </a:r>
            <a:endParaRPr sz="2126"/>
          </a:p>
          <a:p>
            <a:pPr indent="-343351" lvl="0" marL="457200" rtl="0" algn="l">
              <a:lnSpc>
                <a:spcPct val="115000"/>
              </a:lnSpc>
              <a:spcBef>
                <a:spcPts val="0"/>
              </a:spcBef>
              <a:spcAft>
                <a:spcPts val="0"/>
              </a:spcAft>
              <a:buSzPct val="100000"/>
              <a:buChar char="●"/>
            </a:pPr>
            <a:r>
              <a:rPr lang="en-GB" sz="2126"/>
              <a:t>Step 2</a:t>
            </a:r>
            <a:endParaRPr sz="2126"/>
          </a:p>
          <a:p>
            <a:pPr indent="0" lvl="0" marL="914400" rtl="0" algn="l">
              <a:lnSpc>
                <a:spcPct val="115000"/>
              </a:lnSpc>
              <a:spcBef>
                <a:spcPts val="0"/>
              </a:spcBef>
              <a:spcAft>
                <a:spcPts val="0"/>
              </a:spcAft>
              <a:buNone/>
            </a:pPr>
            <a:r>
              <a:rPr lang="en-GB" sz="2126"/>
              <a:t> </a:t>
            </a:r>
            <a:endParaRPr sz="2126"/>
          </a:p>
          <a:p>
            <a:pPr indent="0" lvl="0" marL="0" rtl="0" algn="l">
              <a:lnSpc>
                <a:spcPct val="115000"/>
              </a:lnSpc>
              <a:spcBef>
                <a:spcPts val="0"/>
              </a:spcBef>
              <a:spcAft>
                <a:spcPts val="0"/>
              </a:spcAft>
              <a:buNone/>
            </a:pPr>
            <a:r>
              <a:t/>
            </a:r>
            <a:endParaRPr sz="2126"/>
          </a:p>
        </p:txBody>
      </p:sp>
      <p:sp>
        <p:nvSpPr>
          <p:cNvPr id="110" name="Google Shape;110;p2"/>
          <p:cNvSpPr txBox="1"/>
          <p:nvPr/>
        </p:nvSpPr>
        <p:spPr>
          <a:xfrm>
            <a:off x="9051975" y="6293225"/>
            <a:ext cx="3000000" cy="523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2200"/>
              <a:buFont typeface="Arial"/>
              <a:buNone/>
            </a:pPr>
            <a:r>
              <a:rPr b="0" i="0" lang="en-GB" sz="2200" u="none" cap="none" strike="noStrike">
                <a:solidFill>
                  <a:srgbClr val="000000"/>
                </a:solidFill>
                <a:latin typeface="Arial"/>
                <a:ea typeface="Arial"/>
                <a:cs typeface="Arial"/>
                <a:sym typeface="Arial"/>
              </a:rPr>
              <a:t>Jovanna Aragon </a:t>
            </a:r>
            <a:endParaRPr b="0" i="0" sz="2200" u="none" cap="none" strike="noStrike">
              <a:solidFill>
                <a:srgbClr val="000000"/>
              </a:solidFill>
              <a:latin typeface="Arial"/>
              <a:ea typeface="Arial"/>
              <a:cs typeface="Arial"/>
              <a:sym typeface="Arial"/>
            </a:endParaRPr>
          </a:p>
        </p:txBody>
      </p:sp>
      <p:pic>
        <p:nvPicPr>
          <p:cNvPr id="111" name="Google Shape;111;p2"/>
          <p:cNvPicPr preferRelativeResize="0"/>
          <p:nvPr/>
        </p:nvPicPr>
        <p:blipFill>
          <a:blip r:embed="rId5">
            <a:alphaModFix/>
          </a:blip>
          <a:stretch>
            <a:fillRect/>
          </a:stretch>
        </p:blipFill>
        <p:spPr>
          <a:xfrm>
            <a:off x="381025" y="5638625"/>
            <a:ext cx="4612798" cy="856050"/>
          </a:xfrm>
          <a:prstGeom prst="rect">
            <a:avLst/>
          </a:prstGeom>
          <a:noFill/>
          <a:ln>
            <a:noFill/>
          </a:ln>
        </p:spPr>
      </p:pic>
      <p:pic>
        <p:nvPicPr>
          <p:cNvPr id="112" name="Google Shape;112;p2"/>
          <p:cNvPicPr preferRelativeResize="0"/>
          <p:nvPr/>
        </p:nvPicPr>
        <p:blipFill>
          <a:blip r:embed="rId6">
            <a:alphaModFix/>
          </a:blip>
          <a:stretch>
            <a:fillRect/>
          </a:stretch>
        </p:blipFill>
        <p:spPr>
          <a:xfrm>
            <a:off x="5551725" y="5666562"/>
            <a:ext cx="5612927" cy="800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g3ea3b34c08c_0_47"/>
          <p:cNvPicPr preferRelativeResize="0"/>
          <p:nvPr/>
        </p:nvPicPr>
        <p:blipFill rotWithShape="1">
          <a:blip r:embed="rId3">
            <a:alphaModFix/>
          </a:blip>
          <a:srcRect b="24172" l="0" r="0" t="14956"/>
          <a:stretch/>
        </p:blipFill>
        <p:spPr>
          <a:xfrm>
            <a:off x="25" y="0"/>
            <a:ext cx="12192000" cy="1301462"/>
          </a:xfrm>
          <a:custGeom>
            <a:rect b="b" l="l" r="r" t="t"/>
            <a:pathLst>
              <a:path extrusionOk="0" h="3692092" w="12192000">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ln>
            <a:noFill/>
          </a:ln>
        </p:spPr>
      </p:pic>
      <p:pic>
        <p:nvPicPr>
          <p:cNvPr id="118" name="Google Shape;118;g3ea3b34c08c_0_47"/>
          <p:cNvPicPr preferRelativeResize="0"/>
          <p:nvPr/>
        </p:nvPicPr>
        <p:blipFill rotWithShape="1">
          <a:blip r:embed="rId4">
            <a:alphaModFix/>
          </a:blip>
          <a:srcRect b="0" l="0" r="0" t="0"/>
          <a:stretch/>
        </p:blipFill>
        <p:spPr>
          <a:xfrm>
            <a:off x="10756711" y="218823"/>
            <a:ext cx="1295274" cy="206365"/>
          </a:xfrm>
          <a:prstGeom prst="rect">
            <a:avLst/>
          </a:prstGeom>
          <a:noFill/>
          <a:ln>
            <a:noFill/>
          </a:ln>
        </p:spPr>
      </p:pic>
      <p:sp>
        <p:nvSpPr>
          <p:cNvPr id="119" name="Google Shape;119;g3ea3b34c08c_0_47"/>
          <p:cNvSpPr txBox="1"/>
          <p:nvPr>
            <p:ph type="title"/>
          </p:nvPr>
        </p:nvSpPr>
        <p:spPr>
          <a:xfrm>
            <a:off x="838200" y="-3829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GB">
                <a:solidFill>
                  <a:schemeClr val="lt1"/>
                </a:solidFill>
              </a:rPr>
              <a:t>GlycoSiteMiner Critique</a:t>
            </a:r>
            <a:endParaRPr b="1">
              <a:solidFill>
                <a:schemeClr val="lt1"/>
              </a:solidFill>
            </a:endParaRPr>
          </a:p>
        </p:txBody>
      </p:sp>
      <p:sp>
        <p:nvSpPr>
          <p:cNvPr id="120" name="Google Shape;120;g3ea3b34c08c_0_47"/>
          <p:cNvSpPr/>
          <p:nvPr/>
        </p:nvSpPr>
        <p:spPr>
          <a:xfrm>
            <a:off x="502920" y="1600200"/>
            <a:ext cx="3612000" cy="4755000"/>
          </a:xfrm>
          <a:prstGeom prst="rect">
            <a:avLst/>
          </a:prstGeom>
          <a:solidFill>
            <a:srgbClr val="FFFFFF"/>
          </a:solidFill>
          <a:ln cap="flat" cmpd="sng" w="12700">
            <a:solidFill>
              <a:srgbClr val="E2E8E8"/>
            </a:solidFill>
            <a:prstDash val="solid"/>
            <a:round/>
            <a:headEnd len="sm" w="sm" type="none"/>
            <a:tailEnd len="sm" w="sm" type="none"/>
          </a:ln>
          <a:effectLst>
            <a:outerShdw blurRad="101600" rotWithShape="0" algn="bl" dir="54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3ea3b34c08c_0_47"/>
          <p:cNvSpPr/>
          <p:nvPr/>
        </p:nvSpPr>
        <p:spPr>
          <a:xfrm>
            <a:off x="502920" y="1600200"/>
            <a:ext cx="3612000" cy="73200"/>
          </a:xfrm>
          <a:prstGeom prst="rect">
            <a:avLst/>
          </a:prstGeom>
          <a:solidFill>
            <a:srgbClr val="0E7C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g3ea3b34c08c_0_47"/>
          <p:cNvSpPr/>
          <p:nvPr/>
        </p:nvSpPr>
        <p:spPr>
          <a:xfrm>
            <a:off x="704088" y="1856232"/>
            <a:ext cx="457200" cy="457200"/>
          </a:xfrm>
          <a:prstGeom prst="ellipse">
            <a:avLst/>
          </a:prstGeom>
          <a:solidFill>
            <a:srgbClr val="0E7C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uild/assets/ic_check.png" id="123" name="Google Shape;123;g3ea3b34c08c_0_47"/>
          <p:cNvPicPr preferRelativeResize="0"/>
          <p:nvPr/>
        </p:nvPicPr>
        <p:blipFill rotWithShape="1">
          <a:blip r:embed="rId5">
            <a:alphaModFix/>
          </a:blip>
          <a:srcRect b="0" l="0" r="0" t="0"/>
          <a:stretch/>
        </p:blipFill>
        <p:spPr>
          <a:xfrm>
            <a:off x="800100" y="1952244"/>
            <a:ext cx="265176" cy="265176"/>
          </a:xfrm>
          <a:prstGeom prst="rect">
            <a:avLst/>
          </a:prstGeom>
          <a:noFill/>
          <a:ln>
            <a:noFill/>
          </a:ln>
        </p:spPr>
      </p:pic>
      <p:sp>
        <p:nvSpPr>
          <p:cNvPr id="124" name="Google Shape;124;g3ea3b34c08c_0_47"/>
          <p:cNvSpPr/>
          <p:nvPr/>
        </p:nvSpPr>
        <p:spPr>
          <a:xfrm>
            <a:off x="1307592" y="1819656"/>
            <a:ext cx="51207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C66"/>
              </a:buClr>
              <a:buSzPts val="1600"/>
              <a:buFont typeface="Georgia"/>
              <a:buNone/>
            </a:pPr>
            <a:r>
              <a:rPr b="1" i="0" lang="en-GB" sz="1600" u="none" cap="none" strike="noStrike">
                <a:solidFill>
                  <a:srgbClr val="0E7C66"/>
                </a:solidFill>
                <a:latin typeface="Georgia"/>
                <a:ea typeface="Georgia"/>
                <a:cs typeface="Georgia"/>
                <a:sym typeface="Georgia"/>
              </a:rPr>
              <a:t>Completed this week</a:t>
            </a:r>
            <a:endParaRPr b="0" i="0" sz="1600" u="none" cap="none" strike="noStrike">
              <a:solidFill>
                <a:srgbClr val="000000"/>
              </a:solidFill>
              <a:latin typeface="Calibri"/>
              <a:ea typeface="Calibri"/>
              <a:cs typeface="Calibri"/>
              <a:sym typeface="Calibri"/>
            </a:endParaRPr>
          </a:p>
        </p:txBody>
      </p:sp>
      <p:sp>
        <p:nvSpPr>
          <p:cNvPr id="125" name="Google Shape;125;g3ea3b34c08c_0_47"/>
          <p:cNvSpPr/>
          <p:nvPr/>
        </p:nvSpPr>
        <p:spPr>
          <a:xfrm>
            <a:off x="758952" y="2560320"/>
            <a:ext cx="3108900" cy="329190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rgbClr val="2B3838"/>
              </a:buClr>
              <a:buSzPts val="1250"/>
              <a:buFont typeface="Calibri"/>
              <a:buChar char="•"/>
            </a:pPr>
            <a:r>
              <a:rPr b="0" i="0" lang="en-GB" sz="1250" u="none" cap="none" strike="noStrike">
                <a:solidFill>
                  <a:srgbClr val="2B3838"/>
                </a:solidFill>
                <a:latin typeface="Calibri"/>
                <a:ea typeface="Calibri"/>
                <a:cs typeface="Calibri"/>
                <a:sym typeface="Calibri"/>
              </a:rPr>
              <a:t>Reviewed the full v2.0 codebase end to end: 6 download/extract scripts plus the ~1,300-line util.py shared library.</a:t>
            </a:r>
            <a:endParaRPr b="0" i="0" sz="1250" u="none" cap="none" strike="noStrike">
              <a:solidFill>
                <a:srgbClr val="000000"/>
              </a:solidFill>
              <a:latin typeface="Calibri"/>
              <a:ea typeface="Calibri"/>
              <a:cs typeface="Calibri"/>
              <a:sym typeface="Calibri"/>
            </a:endParaRPr>
          </a:p>
          <a:p>
            <a:pPr indent="-177800" lvl="0" marL="177800" marR="0" rtl="0" algn="l">
              <a:lnSpc>
                <a:spcPct val="100000"/>
              </a:lnSpc>
              <a:spcBef>
                <a:spcPts val="1000"/>
              </a:spcBef>
              <a:spcAft>
                <a:spcPts val="0"/>
              </a:spcAft>
              <a:buClr>
                <a:srgbClr val="2B3838"/>
              </a:buClr>
              <a:buSzPts val="1250"/>
              <a:buFont typeface="Calibri"/>
              <a:buChar char="•"/>
            </a:pPr>
            <a:r>
              <a:rPr b="0" i="0" lang="en-GB" sz="1250" u="none" cap="none" strike="noStrike">
                <a:solidFill>
                  <a:srgbClr val="2B3838"/>
                </a:solidFill>
                <a:latin typeface="Calibri"/>
                <a:ea typeface="Calibri"/>
                <a:cs typeface="Calibri"/>
                <a:sym typeface="Calibri"/>
              </a:rPr>
              <a:t>Ran Steps 1 &amp; 2 from tasks.md: data download, then known-sites extraction. Both now complete.</a:t>
            </a:r>
            <a:endParaRPr b="0" i="0" sz="1250" u="none" cap="none" strike="noStrike">
              <a:solidFill>
                <a:srgbClr val="000000"/>
              </a:solidFill>
              <a:latin typeface="Calibri"/>
              <a:ea typeface="Calibri"/>
              <a:cs typeface="Calibri"/>
              <a:sym typeface="Calibri"/>
            </a:endParaRPr>
          </a:p>
          <a:p>
            <a:pPr indent="-177800" lvl="0" marL="177800" marR="0" rtl="0" algn="l">
              <a:lnSpc>
                <a:spcPct val="100000"/>
              </a:lnSpc>
              <a:spcBef>
                <a:spcPts val="1000"/>
              </a:spcBef>
              <a:spcAft>
                <a:spcPts val="0"/>
              </a:spcAft>
              <a:buClr>
                <a:srgbClr val="2B3838"/>
              </a:buClr>
              <a:buSzPts val="1250"/>
              <a:buFont typeface="Calibri"/>
              <a:buChar char="•"/>
            </a:pPr>
            <a:r>
              <a:rPr b="0" i="0" lang="en-GB" sz="1250" u="none" cap="none" strike="noStrike">
                <a:solidFill>
                  <a:srgbClr val="2B3838"/>
                </a:solidFill>
                <a:latin typeface="Calibri"/>
                <a:ea typeface="Calibri"/>
                <a:cs typeface="Calibri"/>
                <a:sym typeface="Calibri"/>
              </a:rPr>
              <a:t>Wrote up the architecture and everything I found in the repo README so the team has a reference.</a:t>
            </a:r>
            <a:endParaRPr b="0" i="0" sz="1250" u="none" cap="none" strike="noStrike">
              <a:solidFill>
                <a:srgbClr val="2B3838"/>
              </a:solidFill>
              <a:latin typeface="Calibri"/>
              <a:ea typeface="Calibri"/>
              <a:cs typeface="Calibri"/>
              <a:sym typeface="Calibri"/>
            </a:endParaRPr>
          </a:p>
          <a:p>
            <a:pPr indent="0" lvl="0" marL="0" marR="0" rtl="0" algn="ctr">
              <a:lnSpc>
                <a:spcPct val="100000"/>
              </a:lnSpc>
              <a:spcBef>
                <a:spcPts val="1000"/>
              </a:spcBef>
              <a:spcAft>
                <a:spcPts val="0"/>
              </a:spcAft>
              <a:buNone/>
            </a:pPr>
            <a:r>
              <a:rPr lang="en-GB" sz="1250" u="sng">
                <a:solidFill>
                  <a:schemeClr val="hlink"/>
                </a:solidFill>
                <a:latin typeface="Calibri"/>
                <a:ea typeface="Calibri"/>
                <a:cs typeface="Calibri"/>
                <a:sym typeface="Calibri"/>
                <a:hlinkClick r:id="rId6"/>
              </a:rPr>
              <a:t>https://github.com/N3haRao/glycositeminer-curation/tree/main/GlycoSiteMiner-v2.0</a:t>
            </a:r>
            <a:endParaRPr sz="1250">
              <a:solidFill>
                <a:srgbClr val="2B3838"/>
              </a:solidFill>
              <a:latin typeface="Calibri"/>
              <a:ea typeface="Calibri"/>
              <a:cs typeface="Calibri"/>
              <a:sym typeface="Calibri"/>
            </a:endParaRPr>
          </a:p>
        </p:txBody>
      </p:sp>
      <p:sp>
        <p:nvSpPr>
          <p:cNvPr id="126" name="Google Shape;126;g3ea3b34c08c_0_47"/>
          <p:cNvSpPr/>
          <p:nvPr/>
        </p:nvSpPr>
        <p:spPr>
          <a:xfrm>
            <a:off x="4389120" y="1600200"/>
            <a:ext cx="7299600" cy="2331600"/>
          </a:xfrm>
          <a:prstGeom prst="rect">
            <a:avLst/>
          </a:prstGeom>
          <a:solidFill>
            <a:srgbClr val="FFFFFF"/>
          </a:solidFill>
          <a:ln cap="flat" cmpd="sng" w="12700">
            <a:solidFill>
              <a:srgbClr val="E2E8E8"/>
            </a:solidFill>
            <a:prstDash val="solid"/>
            <a:round/>
            <a:headEnd len="sm" w="sm" type="none"/>
            <a:tailEnd len="sm" w="sm" type="none"/>
          </a:ln>
          <a:effectLst>
            <a:outerShdw blurRad="101600" rotWithShape="0" algn="bl" dir="54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ea3b34c08c_0_47"/>
          <p:cNvSpPr/>
          <p:nvPr/>
        </p:nvSpPr>
        <p:spPr>
          <a:xfrm>
            <a:off x="4389120" y="1600200"/>
            <a:ext cx="7299600" cy="73200"/>
          </a:xfrm>
          <a:prstGeom prst="rect">
            <a:avLst/>
          </a:prstGeom>
          <a:solidFill>
            <a:srgbClr val="C049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3ea3b34c08c_0_47"/>
          <p:cNvSpPr/>
          <p:nvPr/>
        </p:nvSpPr>
        <p:spPr>
          <a:xfrm>
            <a:off x="4590288" y="1819656"/>
            <a:ext cx="457200" cy="457200"/>
          </a:xfrm>
          <a:prstGeom prst="ellipse">
            <a:avLst/>
          </a:prstGeom>
          <a:solidFill>
            <a:srgbClr val="C049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uild/assets/ic_warn.png" id="129" name="Google Shape;129;g3ea3b34c08c_0_47"/>
          <p:cNvPicPr preferRelativeResize="0"/>
          <p:nvPr/>
        </p:nvPicPr>
        <p:blipFill rotWithShape="1">
          <a:blip r:embed="rId7">
            <a:alphaModFix/>
          </a:blip>
          <a:srcRect b="0" l="0" r="0" t="0"/>
          <a:stretch/>
        </p:blipFill>
        <p:spPr>
          <a:xfrm>
            <a:off x="4686300" y="1915668"/>
            <a:ext cx="265176" cy="265176"/>
          </a:xfrm>
          <a:prstGeom prst="rect">
            <a:avLst/>
          </a:prstGeom>
          <a:noFill/>
          <a:ln>
            <a:noFill/>
          </a:ln>
        </p:spPr>
      </p:pic>
      <p:sp>
        <p:nvSpPr>
          <p:cNvPr id="130" name="Google Shape;130;g3ea3b34c08c_0_47"/>
          <p:cNvSpPr/>
          <p:nvPr/>
        </p:nvSpPr>
        <p:spPr>
          <a:xfrm>
            <a:off x="5193792" y="1783080"/>
            <a:ext cx="51207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492F"/>
              </a:buClr>
              <a:buSzPts val="1600"/>
              <a:buFont typeface="Georgia"/>
              <a:buNone/>
            </a:pPr>
            <a:r>
              <a:rPr b="1" i="0" lang="en-GB" sz="1600" u="none" cap="none" strike="noStrike">
                <a:solidFill>
                  <a:srgbClr val="C0492F"/>
                </a:solidFill>
                <a:latin typeface="Georgia"/>
                <a:ea typeface="Georgia"/>
                <a:cs typeface="Georgia"/>
                <a:sym typeface="Georgia"/>
              </a:rPr>
              <a:t>Cross-platform bug fixes</a:t>
            </a:r>
            <a:endParaRPr b="0" i="0" sz="1600" u="none" cap="none" strike="noStrike">
              <a:solidFill>
                <a:srgbClr val="000000"/>
              </a:solidFill>
              <a:latin typeface="Calibri"/>
              <a:ea typeface="Calibri"/>
              <a:cs typeface="Calibri"/>
              <a:sym typeface="Calibri"/>
            </a:endParaRPr>
          </a:p>
        </p:txBody>
      </p:sp>
      <p:sp>
        <p:nvSpPr>
          <p:cNvPr id="131" name="Google Shape;131;g3ea3b34c08c_0_47"/>
          <p:cNvSpPr/>
          <p:nvPr/>
        </p:nvSpPr>
        <p:spPr>
          <a:xfrm>
            <a:off x="4645150" y="2322599"/>
            <a:ext cx="6796800" cy="265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A6A"/>
              </a:buClr>
              <a:buSzPts val="1150"/>
              <a:buFont typeface="Calibri"/>
              <a:buNone/>
            </a:pPr>
            <a:r>
              <a:rPr b="0" i="1" lang="en-GB" sz="1150" u="none" cap="none" strike="noStrike">
                <a:solidFill>
                  <a:srgbClr val="5A6A6A"/>
                </a:solidFill>
                <a:latin typeface="Calibri"/>
                <a:ea typeface="Calibri"/>
                <a:cs typeface="Calibri"/>
                <a:sym typeface="Calibri"/>
              </a:rPr>
              <a:t>Scripts were written for Linux and broke on Windows. I traced and fixed each one so the pipeline runs on either OS:</a:t>
            </a:r>
            <a:endParaRPr b="0" i="0" sz="1150" u="none" cap="none" strike="noStrike">
              <a:solidFill>
                <a:srgbClr val="000000"/>
              </a:solidFill>
              <a:latin typeface="Calibri"/>
              <a:ea typeface="Calibri"/>
              <a:cs typeface="Calibri"/>
              <a:sym typeface="Calibri"/>
            </a:endParaRPr>
          </a:p>
        </p:txBody>
      </p:sp>
      <p:sp>
        <p:nvSpPr>
          <p:cNvPr id="132" name="Google Shape;132;g3ea3b34c08c_0_47"/>
          <p:cNvSpPr/>
          <p:nvPr/>
        </p:nvSpPr>
        <p:spPr>
          <a:xfrm>
            <a:off x="4640527" y="2585469"/>
            <a:ext cx="6796800" cy="112470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rgbClr val="2B3838"/>
              </a:buClr>
              <a:buSzPts val="1100"/>
              <a:buFont typeface="Calibri"/>
              <a:buChar char="•"/>
            </a:pPr>
            <a:r>
              <a:rPr b="0" i="0" lang="en-GB" sz="1100" u="none" cap="none" strike="noStrike">
                <a:solidFill>
                  <a:srgbClr val="2B3838"/>
                </a:solidFill>
                <a:latin typeface="Calibri"/>
                <a:ea typeface="Calibri"/>
                <a:cs typeface="Calibri"/>
                <a:sym typeface="Calibri"/>
              </a:rPr>
              <a:t>gene-info: replaced the gunzip shell call with Python's gzip, and fixed a stale column index that was silently dropping every species (output had been empty).</a:t>
            </a:r>
            <a:endParaRPr b="0" i="0" sz="1100" u="none" cap="none" strike="noStrike">
              <a:solidFill>
                <a:srgbClr val="000000"/>
              </a:solidFill>
              <a:latin typeface="Calibri"/>
              <a:ea typeface="Calibri"/>
              <a:cs typeface="Calibri"/>
              <a:sym typeface="Calibri"/>
            </a:endParaRPr>
          </a:p>
          <a:p>
            <a:pPr indent="-177800" lvl="0" marL="177800" marR="0" rtl="0" algn="l">
              <a:lnSpc>
                <a:spcPct val="100000"/>
              </a:lnSpc>
              <a:spcBef>
                <a:spcPts val="1000"/>
              </a:spcBef>
              <a:spcAft>
                <a:spcPts val="0"/>
              </a:spcAft>
              <a:buClr>
                <a:srgbClr val="2B3838"/>
              </a:buClr>
              <a:buSzPts val="1100"/>
              <a:buFont typeface="Calibri"/>
              <a:buChar char="•"/>
            </a:pPr>
            <a:r>
              <a:rPr b="0" i="0" lang="en-GB" sz="1100" u="none" cap="none" strike="noStrike">
                <a:solidFill>
                  <a:srgbClr val="2B3838"/>
                </a:solidFill>
                <a:latin typeface="Calibri"/>
                <a:ea typeface="Calibri"/>
                <a:cs typeface="Calibri"/>
                <a:sym typeface="Calibri"/>
              </a:rPr>
              <a:t>medline: added a skip-if-already-downloaded check so the 807-file download can pause and resume without re-fetching.</a:t>
            </a:r>
            <a:endParaRPr b="0" i="0" sz="1100" u="none" cap="none" strike="noStrike">
              <a:solidFill>
                <a:srgbClr val="000000"/>
              </a:solidFill>
              <a:latin typeface="Calibri"/>
              <a:ea typeface="Calibri"/>
              <a:cs typeface="Calibri"/>
              <a:sym typeface="Calibri"/>
            </a:endParaRPr>
          </a:p>
          <a:p>
            <a:pPr indent="-177800" lvl="0" marL="177800" marR="0" rtl="0" algn="l">
              <a:lnSpc>
                <a:spcPct val="100000"/>
              </a:lnSpc>
              <a:spcBef>
                <a:spcPts val="1000"/>
              </a:spcBef>
              <a:spcAft>
                <a:spcPts val="0"/>
              </a:spcAft>
              <a:buClr>
                <a:srgbClr val="2B3838"/>
              </a:buClr>
              <a:buSzPts val="1100"/>
              <a:buFont typeface="Calibri"/>
              <a:buChar char="•"/>
            </a:pPr>
            <a:r>
              <a:rPr b="0" i="0" lang="en-GB" sz="1100" u="none" cap="none" strike="noStrike">
                <a:solidFill>
                  <a:srgbClr val="2B3838"/>
                </a:solidFill>
                <a:latin typeface="Calibri"/>
                <a:ea typeface="Calibri"/>
                <a:cs typeface="Calibri"/>
                <a:sym typeface="Calibri"/>
              </a:rPr>
              <a:t>extract-known-sites: added UTF-8 handling and os.path.basename so it stops crashing on Windows encoding and paths.</a:t>
            </a:r>
            <a:endParaRPr b="0" i="0" sz="1100" u="none" cap="none" strike="noStrike">
              <a:solidFill>
                <a:srgbClr val="000000"/>
              </a:solidFill>
              <a:latin typeface="Calibri"/>
              <a:ea typeface="Calibri"/>
              <a:cs typeface="Calibri"/>
              <a:sym typeface="Calibri"/>
            </a:endParaRPr>
          </a:p>
        </p:txBody>
      </p:sp>
      <p:sp>
        <p:nvSpPr>
          <p:cNvPr id="133" name="Google Shape;133;g3ea3b34c08c_0_47"/>
          <p:cNvSpPr/>
          <p:nvPr/>
        </p:nvSpPr>
        <p:spPr>
          <a:xfrm>
            <a:off x="4389120" y="4114800"/>
            <a:ext cx="3512700" cy="2240400"/>
          </a:xfrm>
          <a:prstGeom prst="rect">
            <a:avLst/>
          </a:prstGeom>
          <a:solidFill>
            <a:srgbClr val="FFFFFF"/>
          </a:solidFill>
          <a:ln cap="flat" cmpd="sng" w="12700">
            <a:solidFill>
              <a:srgbClr val="E2E8E8"/>
            </a:solidFill>
            <a:prstDash val="solid"/>
            <a:round/>
            <a:headEnd len="sm" w="sm" type="none"/>
            <a:tailEnd len="sm" w="sm" type="none"/>
          </a:ln>
          <a:effectLst>
            <a:outerShdw blurRad="101600" rotWithShape="0" algn="bl" dir="54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ea3b34c08c_0_47"/>
          <p:cNvSpPr/>
          <p:nvPr/>
        </p:nvSpPr>
        <p:spPr>
          <a:xfrm>
            <a:off x="4389120" y="4114800"/>
            <a:ext cx="3512700" cy="73200"/>
          </a:xfrm>
          <a:prstGeom prst="rect">
            <a:avLst/>
          </a:prstGeom>
          <a:solidFill>
            <a:srgbClr val="1C6E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g3ea3b34c08c_0_47"/>
          <p:cNvSpPr/>
          <p:nvPr/>
        </p:nvSpPr>
        <p:spPr>
          <a:xfrm>
            <a:off x="4572000" y="4297680"/>
            <a:ext cx="457200" cy="457200"/>
          </a:xfrm>
          <a:prstGeom prst="ellipse">
            <a:avLst/>
          </a:prstGeom>
          <a:solidFill>
            <a:srgbClr val="1C6E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uild/assets/ic_list.png" id="136" name="Google Shape;136;g3ea3b34c08c_0_47"/>
          <p:cNvPicPr preferRelativeResize="0"/>
          <p:nvPr/>
        </p:nvPicPr>
        <p:blipFill rotWithShape="1">
          <a:blip r:embed="rId8">
            <a:alphaModFix/>
          </a:blip>
          <a:srcRect b="0" l="0" r="0" t="0"/>
          <a:stretch/>
        </p:blipFill>
        <p:spPr>
          <a:xfrm>
            <a:off x="4668012" y="4393692"/>
            <a:ext cx="265176" cy="265176"/>
          </a:xfrm>
          <a:prstGeom prst="rect">
            <a:avLst/>
          </a:prstGeom>
          <a:noFill/>
          <a:ln>
            <a:noFill/>
          </a:ln>
        </p:spPr>
      </p:pic>
      <p:sp>
        <p:nvSpPr>
          <p:cNvPr id="137" name="Google Shape;137;g3ea3b34c08c_0_47"/>
          <p:cNvSpPr/>
          <p:nvPr/>
        </p:nvSpPr>
        <p:spPr>
          <a:xfrm>
            <a:off x="5175504" y="4261104"/>
            <a:ext cx="51207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6E8C"/>
              </a:buClr>
              <a:buSzPts val="1600"/>
              <a:buFont typeface="Georgia"/>
              <a:buNone/>
            </a:pPr>
            <a:r>
              <a:rPr b="1" i="0" lang="en-GB" sz="1600" u="none" cap="none" strike="noStrike">
                <a:solidFill>
                  <a:srgbClr val="1C6E8C"/>
                </a:solidFill>
                <a:latin typeface="Georgia"/>
                <a:ea typeface="Georgia"/>
                <a:cs typeface="Georgia"/>
                <a:sym typeface="Georgia"/>
              </a:rPr>
              <a:t>Data downloaded</a:t>
            </a:r>
            <a:endParaRPr b="0" i="0" sz="1600" u="none" cap="none" strike="noStrike">
              <a:solidFill>
                <a:srgbClr val="000000"/>
              </a:solidFill>
              <a:latin typeface="Calibri"/>
              <a:ea typeface="Calibri"/>
              <a:cs typeface="Calibri"/>
              <a:sym typeface="Calibri"/>
            </a:endParaRPr>
          </a:p>
        </p:txBody>
      </p:sp>
      <p:sp>
        <p:nvSpPr>
          <p:cNvPr id="138" name="Google Shape;138;g3ea3b34c08c_0_47"/>
          <p:cNvSpPr/>
          <p:nvPr/>
        </p:nvSpPr>
        <p:spPr>
          <a:xfrm>
            <a:off x="4626864" y="4882896"/>
            <a:ext cx="3055500" cy="139890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rgbClr val="2B3838"/>
              </a:buClr>
              <a:buSzPts val="1050"/>
              <a:buFont typeface="Calibri"/>
              <a:buChar char="•"/>
            </a:pPr>
            <a:r>
              <a:rPr b="0" i="0" lang="en-GB" sz="1050" u="none" cap="none" strike="noStrike">
                <a:solidFill>
                  <a:srgbClr val="2B3838"/>
                </a:solidFill>
                <a:latin typeface="Calibri"/>
                <a:ea typeface="Calibri"/>
                <a:cs typeface="Calibri"/>
                <a:sym typeface="Calibri"/>
              </a:rPr>
              <a:t>GlyGen reference: 174 files, 16 species</a:t>
            </a:r>
            <a:endParaRPr b="0" i="0" sz="1050" u="none" cap="none" strike="noStrike">
              <a:solidFill>
                <a:srgbClr val="000000"/>
              </a:solidFill>
              <a:latin typeface="Calibri"/>
              <a:ea typeface="Calibri"/>
              <a:cs typeface="Calibri"/>
              <a:sym typeface="Calibri"/>
            </a:endParaRPr>
          </a:p>
          <a:p>
            <a:pPr indent="-177800" lvl="0" marL="177800" marR="0" rtl="0" algn="l">
              <a:lnSpc>
                <a:spcPct val="100000"/>
              </a:lnSpc>
              <a:spcBef>
                <a:spcPts val="1000"/>
              </a:spcBef>
              <a:spcAft>
                <a:spcPts val="0"/>
              </a:spcAft>
              <a:buClr>
                <a:srgbClr val="2B3838"/>
              </a:buClr>
              <a:buSzPts val="1050"/>
              <a:buFont typeface="Calibri"/>
              <a:buChar char="•"/>
            </a:pPr>
            <a:r>
              <a:rPr b="0" i="0" lang="en-GB" sz="1050" u="none" cap="none" strike="noStrike">
                <a:solidFill>
                  <a:srgbClr val="2B3838"/>
                </a:solidFill>
                <a:latin typeface="Calibri"/>
                <a:ea typeface="Calibri"/>
                <a:cs typeface="Calibri"/>
                <a:sym typeface="Calibri"/>
              </a:rPr>
              <a:t>PubTator3 NER dump: 5.7 GB</a:t>
            </a:r>
            <a:endParaRPr b="0" i="0" sz="1050" u="none" cap="none" strike="noStrike">
              <a:solidFill>
                <a:srgbClr val="000000"/>
              </a:solidFill>
              <a:latin typeface="Calibri"/>
              <a:ea typeface="Calibri"/>
              <a:cs typeface="Calibri"/>
              <a:sym typeface="Calibri"/>
            </a:endParaRPr>
          </a:p>
          <a:p>
            <a:pPr indent="-177800" lvl="0" marL="177800" marR="0" rtl="0" algn="l">
              <a:lnSpc>
                <a:spcPct val="100000"/>
              </a:lnSpc>
              <a:spcBef>
                <a:spcPts val="1000"/>
              </a:spcBef>
              <a:spcAft>
                <a:spcPts val="0"/>
              </a:spcAft>
              <a:buClr>
                <a:srgbClr val="2B3838"/>
              </a:buClr>
              <a:buSzPts val="1050"/>
              <a:buFont typeface="Calibri"/>
              <a:buChar char="•"/>
            </a:pPr>
            <a:r>
              <a:rPr b="0" i="0" lang="en-GB" sz="1050" u="none" cap="none" strike="noStrike">
                <a:solidFill>
                  <a:srgbClr val="2B3838"/>
                </a:solidFill>
                <a:latin typeface="Calibri"/>
                <a:ea typeface="Calibri"/>
                <a:cs typeface="Calibri"/>
                <a:sym typeface="Calibri"/>
              </a:rPr>
              <a:t>NCBI gene info: 648,034 records</a:t>
            </a:r>
            <a:endParaRPr b="0" i="0" sz="1050" u="none" cap="none" strike="noStrike">
              <a:solidFill>
                <a:srgbClr val="000000"/>
              </a:solidFill>
              <a:latin typeface="Calibri"/>
              <a:ea typeface="Calibri"/>
              <a:cs typeface="Calibri"/>
              <a:sym typeface="Calibri"/>
            </a:endParaRPr>
          </a:p>
          <a:p>
            <a:pPr indent="-177800" lvl="0" marL="177800" marR="0" rtl="0" algn="l">
              <a:lnSpc>
                <a:spcPct val="100000"/>
              </a:lnSpc>
              <a:spcBef>
                <a:spcPts val="1000"/>
              </a:spcBef>
              <a:spcAft>
                <a:spcPts val="0"/>
              </a:spcAft>
              <a:buClr>
                <a:srgbClr val="2B3838"/>
              </a:buClr>
              <a:buSzPts val="1050"/>
              <a:buFont typeface="Calibri"/>
              <a:buChar char="•"/>
            </a:pPr>
            <a:r>
              <a:rPr b="0" i="0" lang="en-GB" sz="1050" u="none" cap="none" strike="noStrike">
                <a:solidFill>
                  <a:srgbClr val="2B3838"/>
                </a:solidFill>
                <a:latin typeface="Calibri"/>
                <a:ea typeface="Calibri"/>
                <a:cs typeface="Calibri"/>
                <a:sym typeface="Calibri"/>
              </a:rPr>
              <a:t>PubMed XML: 807 files</a:t>
            </a:r>
            <a:endParaRPr b="0" i="0" sz="1050" u="none" cap="none" strike="noStrike">
              <a:solidFill>
                <a:srgbClr val="000000"/>
              </a:solidFill>
              <a:latin typeface="Calibri"/>
              <a:ea typeface="Calibri"/>
              <a:cs typeface="Calibri"/>
              <a:sym typeface="Calibri"/>
            </a:endParaRPr>
          </a:p>
          <a:p>
            <a:pPr indent="-177800" lvl="0" marL="177800" marR="0" rtl="0" algn="l">
              <a:lnSpc>
                <a:spcPct val="100000"/>
              </a:lnSpc>
              <a:spcBef>
                <a:spcPts val="1000"/>
              </a:spcBef>
              <a:spcAft>
                <a:spcPts val="0"/>
              </a:spcAft>
              <a:buClr>
                <a:srgbClr val="2B3838"/>
              </a:buClr>
              <a:buSzPts val="1050"/>
              <a:buFont typeface="Calibri"/>
              <a:buChar char="•"/>
            </a:pPr>
            <a:r>
              <a:rPr b="0" i="0" lang="en-GB" sz="1050" u="none" cap="none" strike="noStrike">
                <a:solidFill>
                  <a:srgbClr val="2B3838"/>
                </a:solidFill>
                <a:latin typeface="Calibri"/>
                <a:ea typeface="Calibri"/>
                <a:cs typeface="Calibri"/>
                <a:sym typeface="Calibri"/>
              </a:rPr>
              <a:t>known_sites.csv: 312,064 sites</a:t>
            </a:r>
            <a:endParaRPr b="0" i="0" sz="1050" u="none" cap="none" strike="noStrike">
              <a:solidFill>
                <a:srgbClr val="000000"/>
              </a:solidFill>
              <a:latin typeface="Calibri"/>
              <a:ea typeface="Calibri"/>
              <a:cs typeface="Calibri"/>
              <a:sym typeface="Calibri"/>
            </a:endParaRPr>
          </a:p>
        </p:txBody>
      </p:sp>
      <p:sp>
        <p:nvSpPr>
          <p:cNvPr id="139" name="Google Shape;139;g3ea3b34c08c_0_47"/>
          <p:cNvSpPr/>
          <p:nvPr/>
        </p:nvSpPr>
        <p:spPr>
          <a:xfrm>
            <a:off x="8176108" y="4114800"/>
            <a:ext cx="3512700" cy="2240400"/>
          </a:xfrm>
          <a:prstGeom prst="rect">
            <a:avLst/>
          </a:prstGeom>
          <a:solidFill>
            <a:srgbClr val="FFFFFF"/>
          </a:solidFill>
          <a:ln cap="flat" cmpd="sng" w="12700">
            <a:solidFill>
              <a:srgbClr val="E2E8E8"/>
            </a:solidFill>
            <a:prstDash val="solid"/>
            <a:round/>
            <a:headEnd len="sm" w="sm" type="none"/>
            <a:tailEnd len="sm" w="sm" type="none"/>
          </a:ln>
          <a:effectLst>
            <a:outerShdw blurRad="101600" rotWithShape="0" algn="bl" dir="54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ea3b34c08c_0_47"/>
          <p:cNvSpPr/>
          <p:nvPr/>
        </p:nvSpPr>
        <p:spPr>
          <a:xfrm>
            <a:off x="8176108" y="4114800"/>
            <a:ext cx="3512700" cy="73200"/>
          </a:xfrm>
          <a:prstGeom prst="rect">
            <a:avLst/>
          </a:prstGeom>
          <a:solidFill>
            <a:srgbClr val="0E7C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g3ea3b34c08c_0_47"/>
          <p:cNvSpPr/>
          <p:nvPr/>
        </p:nvSpPr>
        <p:spPr>
          <a:xfrm>
            <a:off x="8358988" y="4297680"/>
            <a:ext cx="457200" cy="457200"/>
          </a:xfrm>
          <a:prstGeom prst="ellipse">
            <a:avLst/>
          </a:prstGeom>
          <a:solidFill>
            <a:srgbClr val="0E7C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uild/assets/ic_sliders.png" id="142" name="Google Shape;142;g3ea3b34c08c_0_47"/>
          <p:cNvPicPr preferRelativeResize="0"/>
          <p:nvPr/>
        </p:nvPicPr>
        <p:blipFill rotWithShape="1">
          <a:blip r:embed="rId9">
            <a:alphaModFix/>
          </a:blip>
          <a:srcRect b="0" l="0" r="0" t="0"/>
          <a:stretch/>
        </p:blipFill>
        <p:spPr>
          <a:xfrm>
            <a:off x="8455000" y="4393692"/>
            <a:ext cx="265176" cy="265176"/>
          </a:xfrm>
          <a:prstGeom prst="rect">
            <a:avLst/>
          </a:prstGeom>
          <a:noFill/>
          <a:ln>
            <a:noFill/>
          </a:ln>
        </p:spPr>
      </p:pic>
      <p:sp>
        <p:nvSpPr>
          <p:cNvPr id="143" name="Google Shape;143;g3ea3b34c08c_0_47"/>
          <p:cNvSpPr/>
          <p:nvPr/>
        </p:nvSpPr>
        <p:spPr>
          <a:xfrm>
            <a:off x="8962492" y="4261104"/>
            <a:ext cx="51207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C66"/>
              </a:buClr>
              <a:buSzPts val="1600"/>
              <a:buFont typeface="Georgia"/>
              <a:buNone/>
            </a:pPr>
            <a:r>
              <a:rPr b="1" i="0" lang="en-GB" sz="1600" u="none" cap="none" strike="noStrike">
                <a:solidFill>
                  <a:srgbClr val="0E7C66"/>
                </a:solidFill>
                <a:latin typeface="Georgia"/>
                <a:ea typeface="Georgia"/>
                <a:cs typeface="Georgia"/>
                <a:sym typeface="Georgia"/>
              </a:rPr>
              <a:t>Issues flagged for v2.0</a:t>
            </a:r>
            <a:endParaRPr b="0" i="0" sz="1600" u="none" cap="none" strike="noStrike">
              <a:solidFill>
                <a:srgbClr val="000000"/>
              </a:solidFill>
              <a:latin typeface="Calibri"/>
              <a:ea typeface="Calibri"/>
              <a:cs typeface="Calibri"/>
              <a:sym typeface="Calibri"/>
            </a:endParaRPr>
          </a:p>
        </p:txBody>
      </p:sp>
      <p:sp>
        <p:nvSpPr>
          <p:cNvPr id="144" name="Google Shape;144;g3ea3b34c08c_0_47"/>
          <p:cNvSpPr/>
          <p:nvPr/>
        </p:nvSpPr>
        <p:spPr>
          <a:xfrm>
            <a:off x="8423102" y="4855521"/>
            <a:ext cx="3055500" cy="139890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rgbClr val="2B3838"/>
              </a:buClr>
              <a:buSzPts val="1000"/>
              <a:buFont typeface="Calibri"/>
              <a:buChar char="•"/>
            </a:pPr>
            <a:r>
              <a:rPr b="0" i="0" lang="en-GB" sz="1000" u="none" cap="none" strike="noStrike">
                <a:solidFill>
                  <a:srgbClr val="2B3838"/>
                </a:solidFill>
                <a:latin typeface="Calibri"/>
                <a:ea typeface="Calibri"/>
                <a:cs typeface="Calibri"/>
                <a:sym typeface="Calibri"/>
              </a:rPr>
              <a:t>Wrong-accession root: load_geneid2canon ENSG bridge adds all matches, no disambiguation.</a:t>
            </a:r>
            <a:endParaRPr b="0" i="0" sz="1000" u="none" cap="none" strike="noStrike">
              <a:solidFill>
                <a:srgbClr val="000000"/>
              </a:solidFill>
              <a:latin typeface="Calibri"/>
              <a:ea typeface="Calibri"/>
              <a:cs typeface="Calibri"/>
              <a:sym typeface="Calibri"/>
            </a:endParaRPr>
          </a:p>
          <a:p>
            <a:pPr indent="-177800" lvl="0" marL="177800" marR="0" rtl="0" algn="l">
              <a:lnSpc>
                <a:spcPct val="100000"/>
              </a:lnSpc>
              <a:spcBef>
                <a:spcPts val="1000"/>
              </a:spcBef>
              <a:spcAft>
                <a:spcPts val="0"/>
              </a:spcAft>
              <a:buClr>
                <a:srgbClr val="2B3838"/>
              </a:buClr>
              <a:buSzPts val="1000"/>
              <a:buFont typeface="Calibri"/>
              <a:buChar char="•"/>
            </a:pPr>
            <a:r>
              <a:rPr b="0" i="0" lang="en-GB" sz="1000" u="none" cap="none" strike="noStrike">
                <a:solidFill>
                  <a:srgbClr val="2B3838"/>
                </a:solidFill>
                <a:latin typeface="Calibri"/>
                <a:ea typeface="Calibri"/>
                <a:cs typeface="Calibri"/>
                <a:sym typeface="Calibri"/>
              </a:rPr>
              <a:t>“C-3” parsing reads sugar carbon positions as Cys residues.</a:t>
            </a:r>
            <a:endParaRPr b="0" i="0" sz="1000" u="none" cap="none" strike="noStrike">
              <a:solidFill>
                <a:srgbClr val="000000"/>
              </a:solidFill>
              <a:latin typeface="Calibri"/>
              <a:ea typeface="Calibri"/>
              <a:cs typeface="Calibri"/>
              <a:sym typeface="Calibri"/>
            </a:endParaRPr>
          </a:p>
          <a:p>
            <a:pPr indent="-177800" lvl="0" marL="177800" marR="0" rtl="0" algn="l">
              <a:lnSpc>
                <a:spcPct val="100000"/>
              </a:lnSpc>
              <a:spcBef>
                <a:spcPts val="1000"/>
              </a:spcBef>
              <a:spcAft>
                <a:spcPts val="0"/>
              </a:spcAft>
              <a:buClr>
                <a:srgbClr val="2B3838"/>
              </a:buClr>
              <a:buSzPts val="1000"/>
              <a:buFont typeface="Calibri"/>
              <a:buChar char="•"/>
            </a:pPr>
            <a:r>
              <a:rPr b="0" i="0" lang="en-GB" sz="1000" u="none" cap="none" strike="noStrike">
                <a:solidFill>
                  <a:srgbClr val="2B3838"/>
                </a:solidFill>
                <a:latin typeface="Calibri"/>
                <a:ea typeface="Calibri"/>
                <a:cs typeface="Calibri"/>
                <a:sym typeface="Calibri"/>
              </a:rPr>
              <a:t>LLM prompt lacks PTM specificity, drives phospho false positives.</a:t>
            </a:r>
            <a:endParaRPr b="0" i="0" sz="1000" u="none" cap="none" strike="noStrike">
              <a:solidFill>
                <a:srgbClr val="000000"/>
              </a:solidFill>
              <a:latin typeface="Calibri"/>
              <a:ea typeface="Calibri"/>
              <a:cs typeface="Calibri"/>
              <a:sym typeface="Calibri"/>
            </a:endParaRPr>
          </a:p>
          <a:p>
            <a:pPr indent="-177800" lvl="0" marL="177800" marR="0" rtl="0" algn="l">
              <a:lnSpc>
                <a:spcPct val="100000"/>
              </a:lnSpc>
              <a:spcBef>
                <a:spcPts val="1000"/>
              </a:spcBef>
              <a:spcAft>
                <a:spcPts val="0"/>
              </a:spcAft>
              <a:buClr>
                <a:srgbClr val="2B3838"/>
              </a:buClr>
              <a:buSzPts val="1000"/>
              <a:buFont typeface="Calibri"/>
              <a:buChar char="•"/>
            </a:pPr>
            <a:r>
              <a:rPr b="0" i="0" lang="en-GB" sz="1000" u="none" cap="none" strike="noStrike">
                <a:solidFill>
                  <a:srgbClr val="2B3838"/>
                </a:solidFill>
                <a:latin typeface="Calibri"/>
                <a:ea typeface="Calibri"/>
                <a:cs typeface="Calibri"/>
                <a:sym typeface="Calibri"/>
              </a:rPr>
              <a:t>config[“mode”] missing from config.json (KeyError risk).</a:t>
            </a:r>
            <a:endParaRPr b="0" i="0" sz="1000" u="none" cap="none" strike="noStrike">
              <a:solidFill>
                <a:srgbClr val="000000"/>
              </a:solidFill>
              <a:latin typeface="Calibri"/>
              <a:ea typeface="Calibri"/>
              <a:cs typeface="Calibri"/>
              <a:sym typeface="Calibri"/>
            </a:endParaRPr>
          </a:p>
        </p:txBody>
      </p:sp>
      <p:sp>
        <p:nvSpPr>
          <p:cNvPr id="145" name="Google Shape;145;g3ea3b34c08c_0_47"/>
          <p:cNvSpPr/>
          <p:nvPr/>
        </p:nvSpPr>
        <p:spPr>
          <a:xfrm>
            <a:off x="8961120" y="6355080"/>
            <a:ext cx="2724900" cy="411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404040"/>
              </a:buClr>
              <a:buSzPts val="2000"/>
              <a:buFont typeface="Calibri"/>
              <a:buNone/>
            </a:pPr>
            <a:r>
              <a:rPr b="0" i="0" lang="en-GB" sz="2000" u="none" cap="none" strike="noStrike">
                <a:solidFill>
                  <a:srgbClr val="404040"/>
                </a:solidFill>
                <a:latin typeface="Calibri"/>
                <a:ea typeface="Calibri"/>
                <a:cs typeface="Calibri"/>
                <a:sym typeface="Calibri"/>
              </a:rPr>
              <a:t>Neha Rao</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g3ea3b34c08c_0_33"/>
          <p:cNvPicPr preferRelativeResize="0"/>
          <p:nvPr/>
        </p:nvPicPr>
        <p:blipFill rotWithShape="1">
          <a:blip r:embed="rId3">
            <a:alphaModFix/>
          </a:blip>
          <a:srcRect b="24172" l="0" r="0" t="14956"/>
          <a:stretch/>
        </p:blipFill>
        <p:spPr>
          <a:xfrm>
            <a:off x="25" y="0"/>
            <a:ext cx="12192000" cy="1107628"/>
          </a:xfrm>
          <a:custGeom>
            <a:rect b="b" l="l" r="r" t="t"/>
            <a:pathLst>
              <a:path extrusionOk="0" h="3692092" w="12192000">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ln>
            <a:noFill/>
          </a:ln>
        </p:spPr>
      </p:pic>
      <p:pic>
        <p:nvPicPr>
          <p:cNvPr id="151" name="Google Shape;151;g3ea3b34c08c_0_33"/>
          <p:cNvPicPr preferRelativeResize="0"/>
          <p:nvPr/>
        </p:nvPicPr>
        <p:blipFill rotWithShape="1">
          <a:blip r:embed="rId4">
            <a:alphaModFix/>
          </a:blip>
          <a:srcRect b="0" l="0" r="0" t="0"/>
          <a:stretch/>
        </p:blipFill>
        <p:spPr>
          <a:xfrm>
            <a:off x="10756711" y="218823"/>
            <a:ext cx="1295274" cy="206365"/>
          </a:xfrm>
          <a:prstGeom prst="rect">
            <a:avLst/>
          </a:prstGeom>
          <a:noFill/>
          <a:ln>
            <a:noFill/>
          </a:ln>
        </p:spPr>
      </p:pic>
      <p:sp>
        <p:nvSpPr>
          <p:cNvPr id="152" name="Google Shape;152;g3ea3b34c08c_0_33"/>
          <p:cNvSpPr txBox="1"/>
          <p:nvPr>
            <p:ph type="title"/>
          </p:nvPr>
        </p:nvSpPr>
        <p:spPr>
          <a:xfrm>
            <a:off x="838200" y="-38297"/>
            <a:ext cx="10515600" cy="889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GB">
                <a:solidFill>
                  <a:schemeClr val="lt1"/>
                </a:solidFill>
              </a:rPr>
              <a:t>GlycoSiteMiner Critique</a:t>
            </a:r>
            <a:endParaRPr b="1">
              <a:solidFill>
                <a:schemeClr val="lt1"/>
              </a:solidFill>
            </a:endParaRPr>
          </a:p>
        </p:txBody>
      </p:sp>
      <p:sp>
        <p:nvSpPr>
          <p:cNvPr id="153" name="Google Shape;153;g3ea3b34c08c_0_33"/>
          <p:cNvSpPr txBox="1"/>
          <p:nvPr>
            <p:ph idx="1" type="body"/>
          </p:nvPr>
        </p:nvSpPr>
        <p:spPr>
          <a:xfrm>
            <a:off x="0" y="1054100"/>
            <a:ext cx="9855300" cy="63372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95000"/>
              </a:lnSpc>
              <a:spcBef>
                <a:spcPts val="1200"/>
              </a:spcBef>
              <a:spcAft>
                <a:spcPts val="0"/>
              </a:spcAft>
              <a:buClr>
                <a:schemeClr val="dk1"/>
              </a:buClr>
              <a:buSzPts val="935"/>
              <a:buFont typeface="Arial"/>
              <a:buNone/>
            </a:pPr>
            <a:r>
              <a:t/>
            </a:r>
            <a:endParaRPr b="1" sz="1235">
              <a:latin typeface="Arial"/>
              <a:ea typeface="Arial"/>
              <a:cs typeface="Arial"/>
              <a:sym typeface="Arial"/>
            </a:endParaRPr>
          </a:p>
          <a:p>
            <a:pPr indent="0" lvl="0" marL="0" rtl="0" algn="l">
              <a:lnSpc>
                <a:spcPct val="95000"/>
              </a:lnSpc>
              <a:spcBef>
                <a:spcPts val="1200"/>
              </a:spcBef>
              <a:spcAft>
                <a:spcPts val="0"/>
              </a:spcAft>
              <a:buClr>
                <a:schemeClr val="dk1"/>
              </a:buClr>
              <a:buSzPts val="935"/>
              <a:buFont typeface="Arial"/>
              <a:buNone/>
            </a:pPr>
            <a:r>
              <a:rPr b="1" lang="en-GB" sz="1235">
                <a:latin typeface="Arial"/>
                <a:ea typeface="Arial"/>
                <a:cs typeface="Arial"/>
                <a:sym typeface="Arial"/>
              </a:rPr>
              <a:t>What worked </a:t>
            </a:r>
            <a:endParaRPr b="1" sz="1235">
              <a:latin typeface="Arial"/>
              <a:ea typeface="Arial"/>
              <a:cs typeface="Arial"/>
              <a:sym typeface="Arial"/>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Running each command one at a time made the process easier</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I checked each download before moving to the next step</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The final </a:t>
            </a:r>
            <a:r>
              <a:rPr lang="en-GB" sz="1400">
                <a:latin typeface="Roboto Mono"/>
                <a:ea typeface="Roboto Mono"/>
                <a:cs typeface="Roboto Mono"/>
                <a:sym typeface="Roboto Mono"/>
              </a:rPr>
              <a:t>known_sites.csv</a:t>
            </a:r>
            <a:r>
              <a:rPr lang="en-GB" sz="1400">
                <a:latin typeface="Arial"/>
                <a:ea typeface="Arial"/>
                <a:cs typeface="Arial"/>
                <a:sym typeface="Arial"/>
              </a:rPr>
              <a:t> file was created successfully</a:t>
            </a:r>
            <a:endParaRPr sz="1400">
              <a:latin typeface="Arial"/>
              <a:ea typeface="Arial"/>
              <a:cs typeface="Arial"/>
              <a:sym typeface="Arial"/>
            </a:endParaRPr>
          </a:p>
          <a:p>
            <a:pPr indent="0" lvl="0" marL="0" rtl="0" algn="l">
              <a:lnSpc>
                <a:spcPct val="95000"/>
              </a:lnSpc>
              <a:spcBef>
                <a:spcPts val="1200"/>
              </a:spcBef>
              <a:spcAft>
                <a:spcPts val="0"/>
              </a:spcAft>
              <a:buClr>
                <a:schemeClr val="dk1"/>
              </a:buClr>
              <a:buSzPts val="935"/>
              <a:buFont typeface="Arial"/>
              <a:buNone/>
            </a:pPr>
            <a:r>
              <a:rPr b="1" lang="en-GB" sz="1235">
                <a:latin typeface="Arial"/>
                <a:ea typeface="Arial"/>
                <a:cs typeface="Arial"/>
                <a:sym typeface="Arial"/>
              </a:rPr>
              <a:t>Work completed </a:t>
            </a:r>
            <a:endParaRPr b="1" sz="1235">
              <a:latin typeface="Arial"/>
              <a:ea typeface="Arial"/>
              <a:cs typeface="Arial"/>
              <a:sym typeface="Arial"/>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I cloned the GlycoSiteMiner repository and followed the README steps</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I set the data folder and downloaded GlyGen, Medline, PubTator, and gene-info</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I ran the final script and created </a:t>
            </a:r>
            <a:r>
              <a:rPr lang="en-GB" sz="1400">
                <a:latin typeface="Roboto Mono"/>
                <a:ea typeface="Roboto Mono"/>
                <a:cs typeface="Roboto Mono"/>
                <a:sym typeface="Roboto Mono"/>
              </a:rPr>
              <a:t>known_sites.csv</a:t>
            </a:r>
            <a:endParaRPr sz="1400">
              <a:latin typeface="Roboto Mono"/>
              <a:ea typeface="Roboto Mono"/>
              <a:cs typeface="Roboto Mono"/>
              <a:sym typeface="Roboto Mono"/>
            </a:endParaRPr>
          </a:p>
          <a:p>
            <a:pPr indent="0" lvl="0" marL="457200" rtl="0" algn="l">
              <a:lnSpc>
                <a:spcPct val="95000"/>
              </a:lnSpc>
              <a:spcBef>
                <a:spcPts val="0"/>
              </a:spcBef>
              <a:spcAft>
                <a:spcPts val="0"/>
              </a:spcAft>
              <a:buNone/>
            </a:pPr>
            <a:r>
              <a:t/>
            </a:r>
            <a:endParaRPr sz="1200">
              <a:latin typeface="Arial"/>
              <a:ea typeface="Arial"/>
              <a:cs typeface="Arial"/>
              <a:sym typeface="Arial"/>
            </a:endParaRPr>
          </a:p>
          <a:p>
            <a:pPr indent="0" lvl="0" marL="0" rtl="0" algn="l">
              <a:lnSpc>
                <a:spcPct val="95000"/>
              </a:lnSpc>
              <a:spcBef>
                <a:spcPts val="1200"/>
              </a:spcBef>
              <a:spcAft>
                <a:spcPts val="0"/>
              </a:spcAft>
              <a:buClr>
                <a:schemeClr val="dk1"/>
              </a:buClr>
              <a:buSzPts val="935"/>
              <a:buFont typeface="Arial"/>
              <a:buNone/>
            </a:pPr>
            <a:r>
              <a:t/>
            </a:r>
            <a:endParaRPr b="1" sz="1235">
              <a:latin typeface="Arial"/>
              <a:ea typeface="Arial"/>
              <a:cs typeface="Arial"/>
              <a:sym typeface="Arial"/>
            </a:endParaRPr>
          </a:p>
          <a:p>
            <a:pPr indent="0" lvl="0" marL="0" rtl="0" algn="l">
              <a:lnSpc>
                <a:spcPct val="95000"/>
              </a:lnSpc>
              <a:spcBef>
                <a:spcPts val="1200"/>
              </a:spcBef>
              <a:spcAft>
                <a:spcPts val="0"/>
              </a:spcAft>
              <a:buClr>
                <a:schemeClr val="dk1"/>
              </a:buClr>
              <a:buSzPts val="935"/>
              <a:buFont typeface="Arial"/>
              <a:buNone/>
            </a:pPr>
            <a:r>
              <a:t/>
            </a:r>
            <a:endParaRPr b="1" sz="1235">
              <a:latin typeface="Arial"/>
              <a:ea typeface="Arial"/>
              <a:cs typeface="Arial"/>
              <a:sym typeface="Arial"/>
            </a:endParaRPr>
          </a:p>
          <a:p>
            <a:pPr indent="0" lvl="0" marL="0" rtl="0" algn="l">
              <a:lnSpc>
                <a:spcPct val="95000"/>
              </a:lnSpc>
              <a:spcBef>
                <a:spcPts val="1200"/>
              </a:spcBef>
              <a:spcAft>
                <a:spcPts val="0"/>
              </a:spcAft>
              <a:buClr>
                <a:schemeClr val="dk1"/>
              </a:buClr>
              <a:buSzPts val="935"/>
              <a:buFont typeface="Arial"/>
              <a:buNone/>
            </a:pPr>
            <a:r>
              <a:t/>
            </a:r>
            <a:endParaRPr b="1" sz="1235">
              <a:latin typeface="Arial"/>
              <a:ea typeface="Arial"/>
              <a:cs typeface="Arial"/>
              <a:sym typeface="Arial"/>
            </a:endParaRPr>
          </a:p>
          <a:p>
            <a:pPr indent="0" lvl="0" marL="0" rtl="0" algn="l">
              <a:lnSpc>
                <a:spcPct val="95000"/>
              </a:lnSpc>
              <a:spcBef>
                <a:spcPts val="1200"/>
              </a:spcBef>
              <a:spcAft>
                <a:spcPts val="0"/>
              </a:spcAft>
              <a:buClr>
                <a:schemeClr val="dk1"/>
              </a:buClr>
              <a:buSzPts val="935"/>
              <a:buFont typeface="Arial"/>
              <a:buNone/>
            </a:pPr>
            <a:r>
              <a:t/>
            </a:r>
            <a:endParaRPr b="1" sz="1235">
              <a:latin typeface="Arial"/>
              <a:ea typeface="Arial"/>
              <a:cs typeface="Arial"/>
              <a:sym typeface="Arial"/>
            </a:endParaRPr>
          </a:p>
          <a:p>
            <a:pPr indent="0" lvl="0" marL="0" rtl="0" algn="l">
              <a:lnSpc>
                <a:spcPct val="95000"/>
              </a:lnSpc>
              <a:spcBef>
                <a:spcPts val="1200"/>
              </a:spcBef>
              <a:spcAft>
                <a:spcPts val="0"/>
              </a:spcAft>
              <a:buClr>
                <a:schemeClr val="dk1"/>
              </a:buClr>
              <a:buSzPts val="935"/>
              <a:buFont typeface="Arial"/>
              <a:buNone/>
            </a:pPr>
            <a:r>
              <a:rPr b="1" lang="en-GB" sz="1235">
                <a:latin typeface="Arial"/>
                <a:ea typeface="Arial"/>
                <a:cs typeface="Arial"/>
                <a:sym typeface="Arial"/>
              </a:rPr>
              <a:t>Problems I noticed</a:t>
            </a:r>
            <a:endParaRPr b="1" sz="1235">
              <a:latin typeface="Arial"/>
              <a:ea typeface="Arial"/>
              <a:cs typeface="Arial"/>
              <a:sym typeface="Arial"/>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The gene-info script created an empty final file</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The script appeared to check the wrong column in </a:t>
            </a:r>
            <a:r>
              <a:rPr lang="en-GB" sz="1400">
                <a:latin typeface="Roboto Mono"/>
                <a:ea typeface="Roboto Mono"/>
                <a:cs typeface="Roboto Mono"/>
                <a:sym typeface="Roboto Mono"/>
              </a:rPr>
              <a:t>species_info.csv</a:t>
            </a:r>
            <a:endParaRPr sz="1400">
              <a:latin typeface="Roboto Mono"/>
              <a:ea typeface="Roboto Mono"/>
              <a:cs typeface="Roboto Mono"/>
              <a:sym typeface="Roboto Mono"/>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I had to manually filter the downloaded gene-info file</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Some instructions were difficult to understand as a beginner</a:t>
            </a:r>
            <a:endParaRPr sz="1400">
              <a:latin typeface="Arial"/>
              <a:ea typeface="Arial"/>
              <a:cs typeface="Arial"/>
              <a:sym typeface="Arial"/>
            </a:endParaRPr>
          </a:p>
          <a:p>
            <a:pPr indent="0" lvl="0" marL="0" rtl="0" algn="l">
              <a:lnSpc>
                <a:spcPct val="95000"/>
              </a:lnSpc>
              <a:spcBef>
                <a:spcPts val="1200"/>
              </a:spcBef>
              <a:spcAft>
                <a:spcPts val="0"/>
              </a:spcAft>
              <a:buClr>
                <a:schemeClr val="dk1"/>
              </a:buClr>
              <a:buSzPts val="935"/>
              <a:buFont typeface="Arial"/>
              <a:buNone/>
            </a:pPr>
            <a:r>
              <a:rPr b="1" lang="en-GB" sz="1235">
                <a:latin typeface="Arial"/>
                <a:ea typeface="Arial"/>
                <a:cs typeface="Arial"/>
                <a:sym typeface="Arial"/>
              </a:rPr>
              <a:t>Suggestions</a:t>
            </a:r>
            <a:endParaRPr b="1" sz="1235">
              <a:latin typeface="Arial"/>
              <a:ea typeface="Arial"/>
              <a:cs typeface="Arial"/>
              <a:sym typeface="Arial"/>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Add a few clearer beginner instructions</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Show a warning if a file is empty</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Add a clear message when each step is finished</a:t>
            </a:r>
            <a:endParaRPr sz="1400">
              <a:latin typeface="Arial"/>
              <a:ea typeface="Arial"/>
              <a:cs typeface="Arial"/>
              <a:sym typeface="Arial"/>
            </a:endParaRPr>
          </a:p>
          <a:p>
            <a:pPr indent="0" lvl="0" marL="457200" rtl="0" algn="l">
              <a:lnSpc>
                <a:spcPct val="95000"/>
              </a:lnSpc>
              <a:spcBef>
                <a:spcPts val="0"/>
              </a:spcBef>
              <a:spcAft>
                <a:spcPts val="0"/>
              </a:spcAft>
              <a:buNone/>
            </a:pPr>
            <a:r>
              <a:t/>
            </a:r>
            <a:endParaRPr sz="1200">
              <a:latin typeface="Arial"/>
              <a:ea typeface="Arial"/>
              <a:cs typeface="Arial"/>
              <a:sym typeface="Arial"/>
            </a:endParaRPr>
          </a:p>
          <a:p>
            <a:pPr indent="0" lvl="0" marL="0" rtl="0" algn="l">
              <a:lnSpc>
                <a:spcPct val="70000"/>
              </a:lnSpc>
              <a:spcBef>
                <a:spcPts val="1200"/>
              </a:spcBef>
              <a:spcAft>
                <a:spcPts val="0"/>
              </a:spcAft>
              <a:buSzPts val="935"/>
              <a:buNone/>
            </a:pPr>
            <a:r>
              <a:t/>
            </a:r>
            <a:endParaRPr sz="2680"/>
          </a:p>
        </p:txBody>
      </p:sp>
      <p:sp>
        <p:nvSpPr>
          <p:cNvPr id="154" name="Google Shape;154;g3ea3b34c08c_0_33"/>
          <p:cNvSpPr txBox="1"/>
          <p:nvPr/>
        </p:nvSpPr>
        <p:spPr>
          <a:xfrm>
            <a:off x="9626600" y="6929600"/>
            <a:ext cx="2501700" cy="461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2200"/>
              <a:buFont typeface="Arial"/>
              <a:buNone/>
            </a:pPr>
            <a:r>
              <a:rPr b="0" i="0" lang="en-GB" sz="1800" u="none" cap="none" strike="noStrike">
                <a:solidFill>
                  <a:srgbClr val="000000"/>
                </a:solidFill>
                <a:latin typeface="Arial"/>
                <a:ea typeface="Arial"/>
                <a:cs typeface="Arial"/>
                <a:sym typeface="Arial"/>
              </a:rPr>
              <a:t>Nahom Gebreselassie</a:t>
            </a:r>
            <a:endParaRPr b="0" i="0" sz="1800" u="none" cap="none" strike="noStrike">
              <a:solidFill>
                <a:srgbClr val="000000"/>
              </a:solidFill>
              <a:latin typeface="Arial"/>
              <a:ea typeface="Arial"/>
              <a:cs typeface="Arial"/>
              <a:sym typeface="Arial"/>
            </a:endParaRPr>
          </a:p>
        </p:txBody>
      </p:sp>
      <p:pic>
        <p:nvPicPr>
          <p:cNvPr id="155" name="Google Shape;155;g3ea3b34c08c_0_33" title="Screenshot 2026-06-17 at 1.13.52 AM.png"/>
          <p:cNvPicPr preferRelativeResize="0"/>
          <p:nvPr/>
        </p:nvPicPr>
        <p:blipFill>
          <a:blip r:embed="rId5">
            <a:alphaModFix/>
          </a:blip>
          <a:stretch>
            <a:fillRect/>
          </a:stretch>
        </p:blipFill>
        <p:spPr>
          <a:xfrm>
            <a:off x="0" y="3490466"/>
            <a:ext cx="12192000" cy="146446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2020-03-04T19:24:18Z</dcterms:created>
  <dc:creator>Tatiana W</dc:creator>
</cp:coreProperties>
</file>