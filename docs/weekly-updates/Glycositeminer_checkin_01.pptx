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1" roundtripDataSignature="AMtx7mi/20mcCm6NqqGLdK0GjJGshS9e5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a3b34c08c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g3ea3b34c08c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a3b34c08c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g3ea3b34c08c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a3b34c08c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g3ea3b34c08c_0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type="ctrTitle"/>
          </p:nvPr>
        </p:nvSpPr>
        <p:spPr>
          <a:xfrm>
            <a:off x="914400" y="1122363"/>
            <a:ext cx="103632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0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5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6"/>
          <p:cNvSpPr txBox="1"/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6"/>
          <p:cNvSpPr txBox="1"/>
          <p:nvPr>
            <p:ph idx="1" type="body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6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6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7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7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7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/>
          <p:nvPr>
            <p:ph type="title"/>
          </p:nvPr>
        </p:nvSpPr>
        <p:spPr>
          <a:xfrm>
            <a:off x="839788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" type="body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8"/>
          <p:cNvSpPr txBox="1"/>
          <p:nvPr>
            <p:ph idx="2" type="body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3" type="body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8"/>
          <p:cNvSpPr txBox="1"/>
          <p:nvPr>
            <p:ph idx="4" type="body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8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9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9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9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" type="body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0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0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/>
          <p:nvPr>
            <p:ph idx="2" type="pic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1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2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2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3"/>
          <p:cNvSpPr txBox="1"/>
          <p:nvPr>
            <p:ph type="title"/>
          </p:nvPr>
        </p:nvSpPr>
        <p:spPr>
          <a:xfrm rot="5400000">
            <a:off x="7133432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3"/>
          <p:cNvSpPr txBox="1"/>
          <p:nvPr>
            <p:ph idx="1" type="body"/>
          </p:nvPr>
        </p:nvSpPr>
        <p:spPr>
          <a:xfrm rot="5400000">
            <a:off x="1799432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3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3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3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hyperlink" Target="https://docs.google.com/document/d/1ICgU0C-lryS2YM_ZXlPoBcb7-EIv2EMeV-Q3jqPobCs/edit?usp=sharing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5.png"/><Relationship Id="rId8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"/>
            <a:ext cx="1222743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/>
          <p:nvPr>
            <p:ph type="ctrTitle"/>
          </p:nvPr>
        </p:nvSpPr>
        <p:spPr>
          <a:xfrm>
            <a:off x="2375500" y="2228900"/>
            <a:ext cx="7440900" cy="3457200"/>
          </a:xfrm>
          <a:prstGeom prst="flowChartAlternateProcess">
            <a:avLst/>
          </a:prstGeom>
          <a:solidFill>
            <a:schemeClr val="lt1"/>
          </a:solidFill>
          <a:ln cap="flat" cmpd="sng" w="38100">
            <a:solidFill>
              <a:srgbClr val="2F549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1080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9644"/>
              </a:buClr>
              <a:buSzPts val="948"/>
              <a:buFont typeface="Calibri"/>
              <a:buNone/>
            </a:pPr>
            <a:r>
              <a:rPr b="1" lang="en-GB" sz="4800">
                <a:solidFill>
                  <a:srgbClr val="009644"/>
                </a:solidFill>
              </a:rPr>
              <a:t>GlycoSiteMiner Volunteership Summer 2026</a:t>
            </a:r>
            <a:endParaRPr b="1" sz="5289">
              <a:solidFill>
                <a:srgbClr val="009644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9644"/>
              </a:buClr>
              <a:buSzPct val="37053"/>
              <a:buFont typeface="Calibri"/>
              <a:buNone/>
            </a:pPr>
            <a:br>
              <a:rPr b="1" lang="en-GB" sz="2842">
                <a:solidFill>
                  <a:srgbClr val="00964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4768"/>
              <a:t>GlycoSiteMiner Tool </a:t>
            </a:r>
            <a:r>
              <a:rPr lang="en-GB" sz="4768"/>
              <a:t>Critique</a:t>
            </a:r>
            <a:endParaRPr sz="4768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9644"/>
              </a:buClr>
              <a:buSzPts val="948"/>
              <a:buFont typeface="Calibri"/>
              <a:buNone/>
            </a:pPr>
            <a:r>
              <a:t/>
            </a:r>
            <a:endParaRPr sz="4768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9644"/>
              </a:buClr>
              <a:buSzPct val="43250"/>
              <a:buFont typeface="Calibri"/>
              <a:buNone/>
            </a:pPr>
            <a:r>
              <a:rPr lang="en-GB" sz="2435"/>
              <a:t>10th June 2026</a:t>
            </a:r>
            <a:endParaRPr sz="2435"/>
          </a:p>
        </p:txBody>
      </p:sp>
      <p:pic>
        <p:nvPicPr>
          <p:cNvPr descr="A white text on a black background&#10;&#10;Description automatically generated" id="91" name="Google Shape;9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1029" y="716142"/>
            <a:ext cx="5837539" cy="1128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"/>
          <p:cNvPicPr preferRelativeResize="0"/>
          <p:nvPr/>
        </p:nvPicPr>
        <p:blipFill rotWithShape="1">
          <a:blip r:embed="rId3">
            <a:alphaModFix/>
          </a:blip>
          <a:srcRect b="24172" l="0" r="0" t="14958"/>
          <a:stretch/>
        </p:blipFill>
        <p:spPr>
          <a:xfrm>
            <a:off x="25" y="0"/>
            <a:ext cx="12192000" cy="1301462"/>
          </a:xfrm>
          <a:custGeom>
            <a:rect b="b" l="l" r="r" t="t"/>
            <a:pathLst>
              <a:path extrusionOk="0" h="3692092" w="12192000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97" name="Google Shape;9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56711" y="218823"/>
            <a:ext cx="1295274" cy="20636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"/>
          <p:cNvSpPr txBox="1"/>
          <p:nvPr>
            <p:ph type="title"/>
          </p:nvPr>
        </p:nvSpPr>
        <p:spPr>
          <a:xfrm>
            <a:off x="838200" y="-38290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GlycoSiteMiner Critique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99" name="Google Shape;99;p2"/>
          <p:cNvSpPr txBox="1"/>
          <p:nvPr>
            <p:ph idx="1" type="body"/>
          </p:nvPr>
        </p:nvSpPr>
        <p:spPr>
          <a:xfrm>
            <a:off x="4966575" y="1363925"/>
            <a:ext cx="7085400" cy="4929300"/>
          </a:xfrm>
          <a:prstGeom prst="rect">
            <a:avLst/>
          </a:prstGeom>
          <a:ln cap="flat" cmpd="sng" w="19050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72000" spcFirstLastPara="1" rIns="36000" wrap="square" tIns="108000">
            <a:normAutofit fontScale="700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29"/>
              <a:t>Observation Summary</a:t>
            </a:r>
            <a:endParaRPr b="1" sz="2429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6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1747"/>
              <a:buFont typeface="Arial"/>
              <a:buNone/>
            </a:pPr>
            <a:r>
              <a:rPr i="1" lang="en-GB" sz="2126">
                <a:solidFill>
                  <a:srgbClr val="2F5496"/>
                </a:solidFill>
              </a:rPr>
              <a:t>Tool Performance</a:t>
            </a:r>
            <a:endParaRPr i="1" sz="2126">
              <a:solidFill>
                <a:srgbClr val="2F5496"/>
              </a:solidFill>
            </a:endParaRPr>
          </a:p>
          <a:p>
            <a:pPr indent="-323088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 sz="2126"/>
              <a:t>Common Errors:</a:t>
            </a:r>
            <a:endParaRPr sz="2126"/>
          </a:p>
          <a:p>
            <a:pPr indent="-323088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 sz="2126"/>
              <a:t>Misidentifying gene/protein entities</a:t>
            </a:r>
            <a:endParaRPr sz="2126"/>
          </a:p>
          <a:p>
            <a:pPr indent="-323088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 sz="2126"/>
              <a:t>No gene/protein entity identified </a:t>
            </a:r>
            <a:endParaRPr sz="2126"/>
          </a:p>
          <a:p>
            <a:pPr indent="-323088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 sz="2126"/>
              <a:t>Not identifying all listed glycosylation sites</a:t>
            </a:r>
            <a:endParaRPr sz="2126"/>
          </a:p>
          <a:p>
            <a:pPr indent="-32308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2126"/>
              <a:t>Valuable</a:t>
            </a:r>
            <a:endParaRPr sz="2126"/>
          </a:p>
          <a:p>
            <a:pPr indent="-323088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 sz="2126"/>
              <a:t>Key-words in text is differentiated (bolded font, red text)</a:t>
            </a:r>
            <a:endParaRPr sz="2126"/>
          </a:p>
          <a:p>
            <a:pPr indent="-323088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 sz="2126"/>
              <a:t>GlyGen reference is easily accessible</a:t>
            </a:r>
            <a:endParaRPr sz="2126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1747"/>
              <a:buFont typeface="Arial"/>
              <a:buNone/>
            </a:pPr>
            <a:r>
              <a:rPr i="1" lang="en-GB" sz="2126">
                <a:solidFill>
                  <a:srgbClr val="2F5496"/>
                </a:solidFill>
              </a:rPr>
              <a:t>Curation User Improvements</a:t>
            </a:r>
            <a:endParaRPr i="1" sz="2126">
              <a:solidFill>
                <a:srgbClr val="2F5496"/>
              </a:solidFill>
            </a:endParaRPr>
          </a:p>
          <a:p>
            <a:pPr indent="-323088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 sz="2126"/>
              <a:t>Ability to highlight text may ease with identifying supporting text</a:t>
            </a:r>
            <a:endParaRPr sz="2126"/>
          </a:p>
          <a:p>
            <a:pPr indent="-32308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2126"/>
              <a:t>Information needed for evidence not always listed in abstract → provide direct link to study source</a:t>
            </a:r>
            <a:endParaRPr sz="2126"/>
          </a:p>
          <a:p>
            <a:pPr indent="-32308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2126"/>
              <a:t>Standardize a visual error identifier (e.g., checkbox tool for common errors like “did not identify all sites in abstract”; “selected incorrect gene/protein entity”; etc.) </a:t>
            </a:r>
            <a:endParaRPr sz="2126"/>
          </a:p>
          <a:p>
            <a:pPr indent="-32308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2126"/>
              <a:t>User should be able to change or suggest UniProtKB Ac for improved response table accuracy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9051975" y="6293225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Jovanna Aragon </a:t>
            </a:r>
            <a:endParaRPr sz="2200"/>
          </a:p>
        </p:txBody>
      </p:sp>
      <p:sp>
        <p:nvSpPr>
          <p:cNvPr id="101" name="Google Shape;101;p2"/>
          <p:cNvSpPr txBox="1"/>
          <p:nvPr/>
        </p:nvSpPr>
        <p:spPr>
          <a:xfrm>
            <a:off x="957275" y="1287400"/>
            <a:ext cx="2868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5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 1 PMIDs</a:t>
            </a:r>
            <a:endParaRPr b="1" sz="165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55566" y="3296688"/>
            <a:ext cx="2158134" cy="132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2500" y="2614100"/>
            <a:ext cx="2158125" cy="2690886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"/>
          <p:cNvSpPr txBox="1"/>
          <p:nvPr/>
        </p:nvSpPr>
        <p:spPr>
          <a:xfrm>
            <a:off x="407075" y="1810600"/>
            <a:ext cx="396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accent6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“PMID Curation Log” Google Doc Link</a:t>
            </a:r>
            <a:endParaRPr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g3ea3b34c08c_0_33"/>
          <p:cNvPicPr preferRelativeResize="0"/>
          <p:nvPr/>
        </p:nvPicPr>
        <p:blipFill rotWithShape="1">
          <a:blip r:embed="rId3">
            <a:alphaModFix/>
          </a:blip>
          <a:srcRect b="24172" l="0" r="0" t="14956"/>
          <a:stretch/>
        </p:blipFill>
        <p:spPr>
          <a:xfrm>
            <a:off x="25" y="0"/>
            <a:ext cx="12192000" cy="1301462"/>
          </a:xfrm>
          <a:custGeom>
            <a:rect b="b" l="l" r="r" t="t"/>
            <a:pathLst>
              <a:path extrusionOk="0" h="3692092" w="12192000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110" name="Google Shape;110;g3ea3b34c08c_0_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56711" y="218823"/>
            <a:ext cx="1295274" cy="20636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ea3b34c08c_0_33"/>
          <p:cNvSpPr txBox="1"/>
          <p:nvPr>
            <p:ph type="title"/>
          </p:nvPr>
        </p:nvSpPr>
        <p:spPr>
          <a:xfrm>
            <a:off x="838200" y="-38290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GlycoSiteMiner Critique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12" name="Google Shape;112;g3ea3b34c08c_0_33"/>
          <p:cNvSpPr txBox="1"/>
          <p:nvPr>
            <p:ph idx="1" type="body"/>
          </p:nvPr>
        </p:nvSpPr>
        <p:spPr>
          <a:xfrm>
            <a:off x="838225" y="1589775"/>
            <a:ext cx="11145600" cy="5164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b="1" sz="123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-GB" sz="1235">
                <a:latin typeface="Arial"/>
                <a:ea typeface="Arial"/>
                <a:cs typeface="Arial"/>
                <a:sym typeface="Arial"/>
              </a:rPr>
              <a:t>PMIDs reviewed</a:t>
            </a:r>
            <a:endParaRPr b="1" sz="1235">
              <a:latin typeface="Arial"/>
              <a:ea typeface="Arial"/>
              <a:cs typeface="Arial"/>
              <a:sym typeface="Arial"/>
            </a:endParaRPr>
          </a:p>
          <a:p>
            <a:pPr indent="-30702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35"/>
              <a:buChar char="●"/>
            </a:pPr>
            <a:r>
              <a:rPr lang="en-GB" sz="1235">
                <a:latin typeface="Arial"/>
                <a:ea typeface="Arial"/>
                <a:cs typeface="Arial"/>
                <a:sym typeface="Arial"/>
              </a:rPr>
              <a:t>I reviewed multiple GlycoSiteMiner entries this week</a:t>
            </a:r>
            <a:endParaRPr sz="1235">
              <a:latin typeface="Arial"/>
              <a:ea typeface="Arial"/>
              <a:cs typeface="Arial"/>
              <a:sym typeface="Arial"/>
            </a:endParaRPr>
          </a:p>
          <a:p>
            <a:pPr indent="-30702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5"/>
              <a:buChar char="●"/>
            </a:pPr>
            <a:r>
              <a:rPr lang="en-GB" sz="1235">
                <a:latin typeface="Arial"/>
                <a:ea typeface="Arial"/>
                <a:cs typeface="Arial"/>
                <a:sym typeface="Arial"/>
              </a:rPr>
              <a:t>I checked each entry by comparing the highlighted site, the protein name, and the table</a:t>
            </a:r>
            <a:endParaRPr sz="123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-GB" sz="1235">
                <a:latin typeface="Arial"/>
                <a:ea typeface="Arial"/>
                <a:cs typeface="Arial"/>
                <a:sym typeface="Arial"/>
              </a:rPr>
              <a:t>What worked</a:t>
            </a:r>
            <a:endParaRPr b="1" sz="1235">
              <a:latin typeface="Arial"/>
              <a:ea typeface="Arial"/>
              <a:cs typeface="Arial"/>
              <a:sym typeface="Arial"/>
            </a:endParaRPr>
          </a:p>
          <a:p>
            <a:pPr indent="-30702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35"/>
              <a:buChar char="●"/>
            </a:pPr>
            <a:r>
              <a:rPr lang="en-GB" sz="1235">
                <a:latin typeface="Arial"/>
                <a:ea typeface="Arial"/>
                <a:cs typeface="Arial"/>
                <a:sym typeface="Arial"/>
              </a:rPr>
              <a:t>Red highlighted sites made it easier to find the residue</a:t>
            </a:r>
            <a:endParaRPr sz="1235">
              <a:latin typeface="Arial"/>
              <a:ea typeface="Arial"/>
              <a:cs typeface="Arial"/>
              <a:sym typeface="Arial"/>
            </a:endParaRPr>
          </a:p>
          <a:p>
            <a:pPr indent="-30702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5"/>
              <a:buChar char="●"/>
            </a:pPr>
            <a:r>
              <a:rPr lang="en-GB" sz="1235">
                <a:latin typeface="Arial"/>
                <a:ea typeface="Arial"/>
                <a:cs typeface="Arial"/>
                <a:sym typeface="Arial"/>
              </a:rPr>
              <a:t>Black highlighted protein names helped me match the site to the right protein</a:t>
            </a:r>
            <a:endParaRPr sz="1235">
              <a:latin typeface="Arial"/>
              <a:ea typeface="Arial"/>
              <a:cs typeface="Arial"/>
              <a:sym typeface="Arial"/>
            </a:endParaRPr>
          </a:p>
          <a:p>
            <a:pPr indent="-30702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5"/>
              <a:buChar char="●"/>
            </a:pPr>
            <a:r>
              <a:rPr lang="en-GB" sz="1235">
                <a:latin typeface="Arial"/>
                <a:ea typeface="Arial"/>
                <a:cs typeface="Arial"/>
                <a:sym typeface="Arial"/>
              </a:rPr>
              <a:t>The tables helped me organize the answer step by step</a:t>
            </a:r>
            <a:endParaRPr sz="1235">
              <a:latin typeface="Arial"/>
              <a:ea typeface="Arial"/>
              <a:cs typeface="Arial"/>
              <a:sym typeface="Arial"/>
            </a:endParaRPr>
          </a:p>
          <a:p>
            <a:pPr indent="-30702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5"/>
              <a:buChar char="●"/>
            </a:pPr>
            <a:r>
              <a:rPr lang="en-GB" sz="1235">
                <a:latin typeface="Arial"/>
                <a:ea typeface="Arial"/>
                <a:cs typeface="Arial"/>
                <a:sym typeface="Arial"/>
              </a:rPr>
              <a:t>Clear abstracts were easy to complete when the site and protein matched</a:t>
            </a:r>
            <a:endParaRPr sz="123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-GB" sz="1235">
                <a:latin typeface="Arial"/>
                <a:ea typeface="Arial"/>
                <a:cs typeface="Arial"/>
                <a:sym typeface="Arial"/>
              </a:rPr>
              <a:t>Problems I noticed</a:t>
            </a:r>
            <a:endParaRPr b="1" sz="1235">
              <a:latin typeface="Arial"/>
              <a:ea typeface="Arial"/>
              <a:cs typeface="Arial"/>
              <a:sym typeface="Arial"/>
            </a:endParaRPr>
          </a:p>
          <a:p>
            <a:pPr indent="-30702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35"/>
              <a:buChar char="●"/>
            </a:pPr>
            <a:r>
              <a:rPr lang="en-GB" sz="1235">
                <a:latin typeface="Arial"/>
                <a:ea typeface="Arial"/>
                <a:cs typeface="Arial"/>
                <a:sym typeface="Arial"/>
              </a:rPr>
              <a:t>Some sites belonged to a different protein than the UniProt entry</a:t>
            </a:r>
            <a:endParaRPr sz="1235">
              <a:latin typeface="Arial"/>
              <a:ea typeface="Arial"/>
              <a:cs typeface="Arial"/>
              <a:sym typeface="Arial"/>
            </a:endParaRPr>
          </a:p>
          <a:p>
            <a:pPr indent="-30702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5"/>
              <a:buChar char="●"/>
            </a:pPr>
            <a:r>
              <a:rPr lang="en-GB" sz="1235">
                <a:latin typeface="Arial"/>
                <a:ea typeface="Arial"/>
                <a:cs typeface="Arial"/>
                <a:sym typeface="Arial"/>
              </a:rPr>
              <a:t>Some abstracts mentioned other changes, not just glycosylation</a:t>
            </a:r>
            <a:endParaRPr sz="1235">
              <a:latin typeface="Arial"/>
              <a:ea typeface="Arial"/>
              <a:cs typeface="Arial"/>
              <a:sym typeface="Arial"/>
            </a:endParaRPr>
          </a:p>
          <a:p>
            <a:pPr indent="-30702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5"/>
              <a:buChar char="●"/>
            </a:pPr>
            <a:r>
              <a:rPr lang="en-GB" sz="1235">
                <a:latin typeface="Arial"/>
                <a:ea typeface="Arial"/>
                <a:cs typeface="Arial"/>
                <a:sym typeface="Arial"/>
              </a:rPr>
              <a:t>Some sites were only possible glycosylation sites, not confirmed ones</a:t>
            </a:r>
            <a:endParaRPr sz="1235">
              <a:latin typeface="Arial"/>
              <a:ea typeface="Arial"/>
              <a:cs typeface="Arial"/>
              <a:sym typeface="Arial"/>
            </a:endParaRPr>
          </a:p>
          <a:p>
            <a:pPr indent="-30702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5"/>
              <a:buChar char="●"/>
            </a:pPr>
            <a:r>
              <a:rPr lang="en-GB" sz="1235">
                <a:latin typeface="Arial"/>
                <a:ea typeface="Arial"/>
                <a:cs typeface="Arial"/>
                <a:sym typeface="Arial"/>
              </a:rPr>
              <a:t>Direct vs indirect evidence was sometimes confusing</a:t>
            </a:r>
            <a:endParaRPr sz="123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-GB" sz="1235">
                <a:latin typeface="Arial"/>
                <a:ea typeface="Arial"/>
                <a:cs typeface="Arial"/>
                <a:sym typeface="Arial"/>
              </a:rPr>
              <a:t>Suggestions</a:t>
            </a:r>
            <a:endParaRPr b="1" sz="1235">
              <a:latin typeface="Arial"/>
              <a:ea typeface="Arial"/>
              <a:cs typeface="Arial"/>
              <a:sym typeface="Arial"/>
            </a:endParaRPr>
          </a:p>
          <a:p>
            <a:pPr indent="-30702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35"/>
              <a:buChar char="●"/>
            </a:pPr>
            <a:r>
              <a:rPr lang="en-GB" sz="1235">
                <a:latin typeface="Arial"/>
                <a:ea typeface="Arial"/>
                <a:cs typeface="Arial"/>
                <a:sym typeface="Arial"/>
              </a:rPr>
              <a:t>Add a warning when the site and protein do not match</a:t>
            </a:r>
            <a:endParaRPr sz="1235">
              <a:latin typeface="Arial"/>
              <a:ea typeface="Arial"/>
              <a:cs typeface="Arial"/>
              <a:sym typeface="Arial"/>
            </a:endParaRPr>
          </a:p>
          <a:p>
            <a:pPr indent="-30702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5"/>
              <a:buChar char="●"/>
            </a:pPr>
            <a:r>
              <a:rPr lang="en-GB" sz="1235">
                <a:latin typeface="Arial"/>
                <a:ea typeface="Arial"/>
                <a:cs typeface="Arial"/>
                <a:sym typeface="Arial"/>
              </a:rPr>
              <a:t>Show the exact sentence that supports the answer</a:t>
            </a:r>
            <a:endParaRPr sz="1235">
              <a:latin typeface="Arial"/>
              <a:ea typeface="Arial"/>
              <a:cs typeface="Arial"/>
              <a:sym typeface="Arial"/>
            </a:endParaRPr>
          </a:p>
          <a:p>
            <a:pPr indent="-30702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5"/>
              <a:buChar char="●"/>
            </a:pPr>
            <a:r>
              <a:rPr lang="en-GB" sz="1235">
                <a:latin typeface="Arial"/>
                <a:ea typeface="Arial"/>
                <a:cs typeface="Arial"/>
                <a:sym typeface="Arial"/>
              </a:rPr>
              <a:t>Add a simple “flag for review” option</a:t>
            </a:r>
            <a:endParaRPr sz="1235">
              <a:latin typeface="Arial"/>
              <a:ea typeface="Arial"/>
              <a:cs typeface="Arial"/>
              <a:sym typeface="Arial"/>
            </a:endParaRPr>
          </a:p>
          <a:p>
            <a:pPr indent="-30702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5"/>
              <a:buChar char="●"/>
            </a:pPr>
            <a:r>
              <a:rPr lang="en-GB" sz="1235">
                <a:latin typeface="Arial"/>
                <a:ea typeface="Arial"/>
                <a:cs typeface="Arial"/>
                <a:sym typeface="Arial"/>
              </a:rPr>
              <a:t>Add short tooltips for confusing terms</a:t>
            </a:r>
            <a:endParaRPr sz="123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2680"/>
          </a:p>
        </p:txBody>
      </p:sp>
      <p:sp>
        <p:nvSpPr>
          <p:cNvPr id="113" name="Google Shape;113;g3ea3b34c08c_0_33"/>
          <p:cNvSpPr txBox="1"/>
          <p:nvPr/>
        </p:nvSpPr>
        <p:spPr>
          <a:xfrm>
            <a:off x="9051975" y="6293225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Nahom Gebreselassie</a:t>
            </a:r>
            <a:endParaRPr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3ea3b34c08c_0_40"/>
          <p:cNvPicPr preferRelativeResize="0"/>
          <p:nvPr/>
        </p:nvPicPr>
        <p:blipFill rotWithShape="1">
          <a:blip r:embed="rId3">
            <a:alphaModFix/>
          </a:blip>
          <a:srcRect b="24172" l="0" r="0" t="14956"/>
          <a:stretch/>
        </p:blipFill>
        <p:spPr>
          <a:xfrm>
            <a:off x="25" y="0"/>
            <a:ext cx="12192000" cy="1301462"/>
          </a:xfrm>
          <a:custGeom>
            <a:rect b="b" l="l" r="r" t="t"/>
            <a:pathLst>
              <a:path extrusionOk="0" h="3692092" w="12192000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119" name="Google Shape;119;g3ea3b34c08c_0_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56711" y="218823"/>
            <a:ext cx="1295274" cy="20636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3ea3b34c08c_0_40"/>
          <p:cNvSpPr txBox="1"/>
          <p:nvPr>
            <p:ph type="title"/>
          </p:nvPr>
        </p:nvSpPr>
        <p:spPr>
          <a:xfrm>
            <a:off x="838200" y="-38290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GlycoSiteMiner Critique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1" name="Google Shape;121;g3ea3b34c08c_0_40"/>
          <p:cNvSpPr txBox="1"/>
          <p:nvPr>
            <p:ph idx="1" type="body"/>
          </p:nvPr>
        </p:nvSpPr>
        <p:spPr>
          <a:xfrm>
            <a:off x="227650" y="1697825"/>
            <a:ext cx="3951000" cy="43512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600"/>
              <a:t>Successes:</a:t>
            </a:r>
            <a:r>
              <a:rPr lang="en-GB" sz="2600"/>
              <a:t> </a:t>
            </a:r>
            <a:br>
              <a:rPr lang="en-GB" sz="2600"/>
            </a:br>
            <a:endParaRPr sz="2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600"/>
              <a:t>-qualitative flagging of glycosylation sites in red font</a:t>
            </a:r>
            <a:endParaRPr sz="2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600"/>
              <a:t>-qualitative flagging of relevant genes / proteins in black </a:t>
            </a:r>
            <a:endParaRPr sz="2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ea3b34c08c_0_40"/>
          <p:cNvSpPr txBox="1"/>
          <p:nvPr/>
        </p:nvSpPr>
        <p:spPr>
          <a:xfrm>
            <a:off x="9051975" y="6293225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John McCaffrey</a:t>
            </a:r>
            <a:endParaRPr sz="2200"/>
          </a:p>
        </p:txBody>
      </p:sp>
      <p:sp>
        <p:nvSpPr>
          <p:cNvPr id="123" name="Google Shape;123;g3ea3b34c08c_0_40"/>
          <p:cNvSpPr txBox="1"/>
          <p:nvPr/>
        </p:nvSpPr>
        <p:spPr>
          <a:xfrm>
            <a:off x="4398975" y="1659425"/>
            <a:ext cx="7653000" cy="4659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Suggestions (Highest priority)</a:t>
            </a:r>
            <a:br>
              <a:rPr lang="en-GB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-feature to flag completely unrelated abstracts (either other PTMs or things like demographic studies, etc.)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-more diverse selections in table 2 in regards to what counts as showing up in G</a:t>
            </a:r>
            <a:r>
              <a:rPr lang="en-GB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lyGen</a:t>
            </a:r>
            <a:r>
              <a:rPr lang="en-GB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database (a GlyTouCan ID vs. a GlyGen prediction should not be weighted the same)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-feature to flag other relevant PTMs that are concurrent or solely measured in any given abstract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g3ea3b34c08c_0_47"/>
          <p:cNvPicPr preferRelativeResize="0"/>
          <p:nvPr/>
        </p:nvPicPr>
        <p:blipFill rotWithShape="1">
          <a:blip r:embed="rId3">
            <a:alphaModFix/>
          </a:blip>
          <a:srcRect b="24172" l="0" r="0" t="14956"/>
          <a:stretch/>
        </p:blipFill>
        <p:spPr>
          <a:xfrm>
            <a:off x="25" y="0"/>
            <a:ext cx="12192000" cy="1301462"/>
          </a:xfrm>
          <a:custGeom>
            <a:rect b="b" l="l" r="r" t="t"/>
            <a:pathLst>
              <a:path extrusionOk="0" h="3692092" w="12192000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129" name="Google Shape;129;g3ea3b34c08c_0_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56711" y="218823"/>
            <a:ext cx="1295274" cy="20636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3ea3b34c08c_0_47"/>
          <p:cNvSpPr txBox="1"/>
          <p:nvPr>
            <p:ph type="title"/>
          </p:nvPr>
        </p:nvSpPr>
        <p:spPr>
          <a:xfrm>
            <a:off x="838200" y="-38290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GlycoSiteMiner Critique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31" name="Google Shape;131;g3ea3b34c08c_0_47"/>
          <p:cNvSpPr txBox="1"/>
          <p:nvPr/>
        </p:nvSpPr>
        <p:spPr>
          <a:xfrm>
            <a:off x="9051975" y="6401700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Neha Rao</a:t>
            </a:r>
            <a:endParaRPr sz="2200"/>
          </a:p>
        </p:txBody>
      </p:sp>
      <p:sp>
        <p:nvSpPr>
          <p:cNvPr id="132" name="Google Shape;132;g3ea3b34c08c_0_47"/>
          <p:cNvSpPr/>
          <p:nvPr/>
        </p:nvSpPr>
        <p:spPr>
          <a:xfrm>
            <a:off x="9051980" y="98805"/>
            <a:ext cx="2834700" cy="1051500"/>
          </a:xfrm>
          <a:prstGeom prst="rect">
            <a:avLst/>
          </a:prstGeom>
          <a:solidFill>
            <a:srgbClr val="0F3D3E"/>
          </a:solidFill>
          <a:ln>
            <a:noFill/>
          </a:ln>
          <a:effectLst>
            <a:outerShdw blurRad="88900" rotWithShape="0" algn="bl" dir="8100000" dist="254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3" name="Google Shape;133;g3ea3b34c08c_0_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53148" y="290829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3ea3b34c08c_0_47"/>
          <p:cNvSpPr/>
          <p:nvPr/>
        </p:nvSpPr>
        <p:spPr>
          <a:xfrm>
            <a:off x="9710348" y="144525"/>
            <a:ext cx="2103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GB" sz="1600" u="none" cap="none" strike="noStrike">
                <a:solidFill>
                  <a:srgbClr val="9FD8CD"/>
                </a:solidFill>
                <a:latin typeface="Calibri"/>
                <a:ea typeface="Calibri"/>
                <a:cs typeface="Calibri"/>
                <a:sym typeface="Calibri"/>
              </a:rPr>
              <a:t>  ~50 PMIDs</a:t>
            </a:r>
            <a:endParaRPr b="0" i="0" sz="4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ea3b34c08c_0_47"/>
          <p:cNvSpPr/>
          <p:nvPr/>
        </p:nvSpPr>
        <p:spPr>
          <a:xfrm>
            <a:off x="9253148" y="766317"/>
            <a:ext cx="2469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E7E1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C9E7E1"/>
                </a:solidFill>
                <a:latin typeface="Calibri"/>
                <a:ea typeface="Calibri"/>
                <a:cs typeface="Calibri"/>
                <a:sym typeface="Calibri"/>
              </a:rPr>
              <a:t>reviewed this past week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ea3b34c08c_0_47"/>
          <p:cNvSpPr/>
          <p:nvPr/>
        </p:nvSpPr>
        <p:spPr>
          <a:xfrm>
            <a:off x="502920" y="1874520"/>
            <a:ext cx="3593700" cy="4434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ea3b34c08c_0_47"/>
          <p:cNvSpPr/>
          <p:nvPr/>
        </p:nvSpPr>
        <p:spPr>
          <a:xfrm>
            <a:off x="502920" y="1874520"/>
            <a:ext cx="3593700" cy="732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ea3b34c08c_0_47"/>
          <p:cNvSpPr/>
          <p:nvPr/>
        </p:nvSpPr>
        <p:spPr>
          <a:xfrm>
            <a:off x="758952" y="2167128"/>
            <a:ext cx="457200" cy="457200"/>
          </a:xfrm>
          <a:prstGeom prst="ellipse">
            <a:avLst/>
          </a:prstGeom>
          <a:solidFill>
            <a:srgbClr val="0E7C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9" name="Google Shape;139;g3ea3b34c08c_0_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4964" y="2263140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3ea3b34c08c_0_47"/>
          <p:cNvSpPr/>
          <p:nvPr/>
        </p:nvSpPr>
        <p:spPr>
          <a:xfrm>
            <a:off x="1344168" y="2167128"/>
            <a:ext cx="263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66"/>
              </a:buClr>
              <a:buSzPts val="1800"/>
              <a:buFont typeface="Georgia"/>
              <a:buNone/>
            </a:pPr>
            <a:r>
              <a:rPr b="1" i="0" lang="en-GB" sz="1800" u="none" cap="none" strike="noStrike">
                <a:solidFill>
                  <a:srgbClr val="0E7C66"/>
                </a:solidFill>
                <a:latin typeface="Georgia"/>
                <a:ea typeface="Georgia"/>
                <a:cs typeface="Georgia"/>
                <a:sym typeface="Georgia"/>
              </a:rPr>
              <a:t>What worked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ea3b34c08c_0_47"/>
          <p:cNvSpPr/>
          <p:nvPr/>
        </p:nvSpPr>
        <p:spPr>
          <a:xfrm>
            <a:off x="712850" y="3283198"/>
            <a:ext cx="3090600" cy="24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B3838"/>
              </a:buClr>
              <a:buSzPts val="1250"/>
              <a:buFont typeface="Calibri"/>
              <a:buChar char="•"/>
            </a:pPr>
            <a:r>
              <a:rPr b="0" i="0" lang="en-GB" sz="1250" u="none" cap="none" strike="noStrike">
                <a:solidFill>
                  <a:srgbClr val="2B3838"/>
                </a:solidFill>
                <a:latin typeface="Calibri"/>
                <a:ea typeface="Calibri"/>
                <a:cs typeface="Calibri"/>
                <a:sym typeface="Calibri"/>
              </a:rPr>
              <a:t>Surfaces candidate sites from abstracts at scale</a:t>
            </a:r>
            <a:r>
              <a:rPr lang="en-GB" sz="1250">
                <a:solidFill>
                  <a:srgbClr val="2B3838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GB" sz="1250" u="none" cap="none" strike="noStrike">
                <a:solidFill>
                  <a:srgbClr val="2B3838"/>
                </a:solidFill>
                <a:latin typeface="Calibri"/>
                <a:ea typeface="Calibri"/>
                <a:cs typeface="Calibri"/>
                <a:sym typeface="Calibri"/>
              </a:rPr>
              <a:t> cuts manual screening time substantially.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2000"/>
              </a:lnSpc>
              <a:spcBef>
                <a:spcPts val="900"/>
              </a:spcBef>
              <a:spcAft>
                <a:spcPts val="0"/>
              </a:spcAft>
              <a:buClr>
                <a:srgbClr val="2B3838"/>
              </a:buClr>
              <a:buSzPts val="1250"/>
              <a:buFont typeface="Calibri"/>
              <a:buChar char="•"/>
            </a:pPr>
            <a:r>
              <a:rPr b="0" i="0" lang="en-GB" sz="1250" u="none" cap="none" strike="noStrike">
                <a:solidFill>
                  <a:srgbClr val="2B3838"/>
                </a:solidFill>
                <a:latin typeface="Calibri"/>
                <a:ea typeface="Calibri"/>
                <a:cs typeface="Calibri"/>
                <a:sym typeface="Calibri"/>
              </a:rPr>
              <a:t>Clear N-glycan sequon cases backed by explicit MS evidence were flagged correctly.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2000"/>
              </a:lnSpc>
              <a:spcBef>
                <a:spcPts val="900"/>
              </a:spcBef>
              <a:spcAft>
                <a:spcPts val="0"/>
              </a:spcAft>
              <a:buClr>
                <a:srgbClr val="2B3838"/>
              </a:buClr>
              <a:buSzPts val="1250"/>
              <a:buFont typeface="Calibri"/>
              <a:buChar char="•"/>
            </a:pPr>
            <a:r>
              <a:rPr b="0" i="0" lang="en-GB" sz="1250" u="none" cap="none" strike="noStrike">
                <a:solidFill>
                  <a:srgbClr val="2B3838"/>
                </a:solidFill>
                <a:latin typeface="Calibri"/>
                <a:ea typeface="Calibri"/>
                <a:cs typeface="Calibri"/>
                <a:sym typeface="Calibri"/>
              </a:rPr>
              <a:t>GlyTableMaker entries map cleanly to UniProt accessions; validated sites are quick to record.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ea3b34c08c_0_47"/>
          <p:cNvSpPr/>
          <p:nvPr/>
        </p:nvSpPr>
        <p:spPr>
          <a:xfrm>
            <a:off x="4317275" y="1371600"/>
            <a:ext cx="7414500" cy="191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ea3b34c08c_0_47"/>
          <p:cNvSpPr/>
          <p:nvPr/>
        </p:nvSpPr>
        <p:spPr>
          <a:xfrm>
            <a:off x="4317275" y="1371600"/>
            <a:ext cx="7414500" cy="63900"/>
          </a:xfrm>
          <a:prstGeom prst="rect">
            <a:avLst/>
          </a:prstGeom>
          <a:solidFill>
            <a:srgbClr val="C049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ea3b34c08c_0_47"/>
          <p:cNvSpPr/>
          <p:nvPr/>
        </p:nvSpPr>
        <p:spPr>
          <a:xfrm>
            <a:off x="4473623" y="1609344"/>
            <a:ext cx="276600" cy="420600"/>
          </a:xfrm>
          <a:prstGeom prst="ellipse">
            <a:avLst/>
          </a:prstGeom>
          <a:solidFill>
            <a:srgbClr val="C049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5" name="Google Shape;145;g3ea3b34c08c_0_4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30750" y="1696212"/>
            <a:ext cx="168375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3ea3b34c08c_0_47"/>
          <p:cNvSpPr/>
          <p:nvPr/>
        </p:nvSpPr>
        <p:spPr>
          <a:xfrm>
            <a:off x="4834426" y="1591056"/>
            <a:ext cx="681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492F"/>
              </a:buClr>
              <a:buSzPts val="1600"/>
              <a:buFont typeface="Georgia"/>
              <a:buNone/>
            </a:pPr>
            <a:r>
              <a:rPr b="1" i="0" lang="en-GB" sz="1600" u="none" cap="none" strike="noStrike">
                <a:solidFill>
                  <a:srgbClr val="C0492F"/>
                </a:solidFill>
                <a:latin typeface="Georgia"/>
                <a:ea typeface="Georgia"/>
                <a:cs typeface="Georgia"/>
                <a:sym typeface="Georgia"/>
              </a:rPr>
              <a:t>Critical</a:t>
            </a:r>
            <a:r>
              <a:rPr b="1" lang="en-GB" sz="1600">
                <a:solidFill>
                  <a:srgbClr val="C0492F"/>
                </a:solidFill>
                <a:latin typeface="Georgia"/>
                <a:ea typeface="Georgia"/>
                <a:cs typeface="Georgia"/>
                <a:sym typeface="Georgia"/>
              </a:rPr>
              <a:t>:</a:t>
            </a:r>
            <a:r>
              <a:rPr b="1" i="0" lang="en-GB" sz="1600" u="none" cap="none" strike="noStrike">
                <a:solidFill>
                  <a:srgbClr val="C0492F"/>
                </a:solidFill>
                <a:latin typeface="Georgia"/>
                <a:ea typeface="Georgia"/>
                <a:cs typeface="Georgia"/>
                <a:sym typeface="Georgia"/>
              </a:rPr>
              <a:t> data integrity: accession &amp; residue validation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3ea3b34c08c_0_47"/>
          <p:cNvSpPr/>
          <p:nvPr/>
        </p:nvSpPr>
        <p:spPr>
          <a:xfrm>
            <a:off x="4485650" y="2139701"/>
            <a:ext cx="71019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165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838"/>
              </a:buClr>
              <a:buSzPts val="1150"/>
              <a:buFont typeface="Calibri"/>
              <a:buChar char="•"/>
            </a:pPr>
            <a:r>
              <a:rPr b="0" i="0" lang="en-GB" sz="1150" u="none" cap="none" strike="noStrike">
                <a:solidFill>
                  <a:srgbClr val="2B3838"/>
                </a:solidFill>
                <a:latin typeface="Calibri"/>
                <a:ea typeface="Calibri"/>
                <a:cs typeface="Calibri"/>
                <a:sym typeface="Calibri"/>
              </a:rPr>
              <a:t>A SARS-CoV-2 spike abstract pre-loaded P02686 (myelin basic protein) and the P0C604 (olfactory receptor)</a:t>
            </a:r>
            <a:r>
              <a:rPr lang="en-GB" sz="1150">
                <a:solidFill>
                  <a:srgbClr val="2B3838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r>
              <a:rPr b="0" i="0" lang="en-GB" sz="1150" u="none" cap="none" strike="noStrike">
                <a:solidFill>
                  <a:srgbClr val="2B3838"/>
                </a:solidFill>
                <a:latin typeface="Calibri"/>
                <a:ea typeface="Calibri"/>
                <a:cs typeface="Calibri"/>
                <a:sym typeface="Calibri"/>
              </a:rPr>
              <a:t> wrong accessions silently corrupt the curated dataset.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1651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B3838"/>
              </a:buClr>
              <a:buSzPts val="1150"/>
              <a:buFont typeface="Calibri"/>
              <a:buChar char="•"/>
            </a:pPr>
            <a:r>
              <a:rPr b="0" i="0" lang="en-GB" sz="1150" u="none" cap="none" strike="noStrike">
                <a:solidFill>
                  <a:srgbClr val="2B3838"/>
                </a:solidFill>
                <a:latin typeface="Calibri"/>
                <a:ea typeface="Calibri"/>
                <a:cs typeface="Calibri"/>
                <a:sym typeface="Calibri"/>
              </a:rPr>
              <a:t>Cross-check entity → accession and validate residue identity against the canonical sequence (e.g. Thr323 in P0DTC2-1) before a record reaches a curator.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3ea3b34c08c_0_47"/>
          <p:cNvSpPr/>
          <p:nvPr/>
        </p:nvSpPr>
        <p:spPr>
          <a:xfrm>
            <a:off x="4287975" y="3353345"/>
            <a:ext cx="3593700" cy="312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ea3b34c08c_0_47"/>
          <p:cNvSpPr/>
          <p:nvPr/>
        </p:nvSpPr>
        <p:spPr>
          <a:xfrm>
            <a:off x="4287975" y="3353345"/>
            <a:ext cx="3593700" cy="63900"/>
          </a:xfrm>
          <a:prstGeom prst="rect">
            <a:avLst/>
          </a:prstGeom>
          <a:solidFill>
            <a:srgbClr val="1C6E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ea3b34c08c_0_47"/>
          <p:cNvSpPr/>
          <p:nvPr/>
        </p:nvSpPr>
        <p:spPr>
          <a:xfrm>
            <a:off x="4525719" y="3591089"/>
            <a:ext cx="420600" cy="420600"/>
          </a:xfrm>
          <a:prstGeom prst="ellipse">
            <a:avLst/>
          </a:prstGeom>
          <a:solidFill>
            <a:srgbClr val="1C6E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1" name="Google Shape;151;g3ea3b34c08c_0_4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2587" y="3677957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ea3b34c08c_0_47"/>
          <p:cNvSpPr/>
          <p:nvPr/>
        </p:nvSpPr>
        <p:spPr>
          <a:xfrm>
            <a:off x="5074359" y="3572801"/>
            <a:ext cx="2679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6E8C"/>
              </a:buClr>
              <a:buSzPts val="1600"/>
              <a:buFont typeface="Georgia"/>
              <a:buNone/>
            </a:pPr>
            <a:r>
              <a:rPr b="1" i="0" lang="en-GB" sz="1600" u="none" cap="none" strike="noStrike">
                <a:solidFill>
                  <a:srgbClr val="1C6E8C"/>
                </a:solidFill>
                <a:latin typeface="Georgia"/>
                <a:ea typeface="Georgia"/>
                <a:cs typeface="Georgia"/>
                <a:sym typeface="Georgia"/>
              </a:rPr>
              <a:t>High priority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ea3b34c08c_0_47"/>
          <p:cNvSpPr/>
          <p:nvPr/>
        </p:nvSpPr>
        <p:spPr>
          <a:xfrm>
            <a:off x="4544007" y="4121441"/>
            <a:ext cx="3118200" cy="22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165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838"/>
              </a:buClr>
              <a:buSzPts val="1050"/>
              <a:buFont typeface="Calibri"/>
              <a:buChar char="•"/>
            </a:pPr>
            <a:r>
              <a:rPr b="0" i="0" lang="en-GB" sz="1050" u="none" cap="none" strike="noStrike">
                <a:solidFill>
                  <a:srgbClr val="2B3838"/>
                </a:solidFill>
                <a:latin typeface="Calibri"/>
                <a:ea typeface="Calibri"/>
                <a:cs typeface="Calibri"/>
                <a:sym typeface="Calibri"/>
              </a:rPr>
              <a:t>“Flag for review” button + reason dropdown → routes to a dev/POC queue, filterable.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1651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B3838"/>
              </a:buClr>
              <a:buSzPts val="1050"/>
              <a:buFont typeface="Calibri"/>
              <a:buChar char="•"/>
            </a:pPr>
            <a:r>
              <a:rPr b="0" i="0" lang="en-GB" sz="1050" u="none" cap="none" strike="noStrike">
                <a:solidFill>
                  <a:srgbClr val="2B3838"/>
                </a:solidFill>
                <a:latin typeface="Calibri"/>
                <a:ea typeface="Calibri"/>
                <a:cs typeface="Calibri"/>
                <a:sym typeface="Calibri"/>
              </a:rPr>
              <a:t>Conditional logic: auto-grey / N-A Tables 3–4 when Glycosylated = No (blocks contradictory entries).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1651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B3838"/>
              </a:buClr>
              <a:buSzPts val="1050"/>
              <a:buFont typeface="Calibri"/>
              <a:buChar char="•"/>
            </a:pPr>
            <a:r>
              <a:rPr b="0" i="0" lang="en-GB" sz="1050" u="none" cap="none" strike="noStrike">
                <a:solidFill>
                  <a:srgbClr val="2B3838"/>
                </a:solidFill>
                <a:latin typeface="Calibri"/>
                <a:ea typeface="Calibri"/>
                <a:cs typeface="Calibri"/>
                <a:sym typeface="Calibri"/>
              </a:rPr>
              <a:t>In-context guidance: tooltips, FAQ-linked SOP, inline traps (glyco vs phospho/glycation, sequon vs confirmed, O-GlcNAc counts), gold-standard AKT1 example.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1651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B3838"/>
              </a:buClr>
              <a:buSzPts val="1050"/>
              <a:buFont typeface="Calibri"/>
              <a:buChar char="•"/>
            </a:pPr>
            <a:r>
              <a:rPr b="0" i="0" lang="en-GB" sz="1050" u="none" cap="none" strike="noStrike">
                <a:solidFill>
                  <a:srgbClr val="2B3838"/>
                </a:solidFill>
                <a:latin typeface="Calibri"/>
                <a:ea typeface="Calibri"/>
                <a:cs typeface="Calibri"/>
                <a:sym typeface="Calibri"/>
              </a:rPr>
              <a:t>Workflow: explicit status, Save vs Mark-complete, filter/sort/search, progress bar, curator assignment.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ea3b34c08c_0_47"/>
          <p:cNvSpPr/>
          <p:nvPr/>
        </p:nvSpPr>
        <p:spPr>
          <a:xfrm>
            <a:off x="8128455" y="3353345"/>
            <a:ext cx="3593700" cy="312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ea3b34c08c_0_47"/>
          <p:cNvSpPr/>
          <p:nvPr/>
        </p:nvSpPr>
        <p:spPr>
          <a:xfrm>
            <a:off x="8128455" y="3353345"/>
            <a:ext cx="3593700" cy="639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ea3b34c08c_0_47"/>
          <p:cNvSpPr/>
          <p:nvPr/>
        </p:nvSpPr>
        <p:spPr>
          <a:xfrm>
            <a:off x="8366199" y="3591089"/>
            <a:ext cx="420600" cy="420600"/>
          </a:xfrm>
          <a:prstGeom prst="ellipse">
            <a:avLst/>
          </a:prstGeom>
          <a:solidFill>
            <a:srgbClr val="0E7C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7" name="Google Shape;157;g3ea3b34c08c_0_4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53067" y="3677957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3ea3b34c08c_0_47"/>
          <p:cNvSpPr/>
          <p:nvPr/>
        </p:nvSpPr>
        <p:spPr>
          <a:xfrm>
            <a:off x="8914839" y="3572801"/>
            <a:ext cx="2679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66"/>
              </a:buClr>
              <a:buSzPts val="1600"/>
              <a:buFont typeface="Georgia"/>
              <a:buNone/>
            </a:pPr>
            <a:r>
              <a:rPr b="1" i="0" lang="en-GB" sz="1600" u="none" cap="none" strike="noStrike">
                <a:solidFill>
                  <a:srgbClr val="0E7C66"/>
                </a:solidFill>
                <a:latin typeface="Georgia"/>
                <a:ea typeface="Georgia"/>
                <a:cs typeface="Georgia"/>
                <a:sym typeface="Georgia"/>
              </a:rPr>
              <a:t>Medium priority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ea3b34c08c_0_47"/>
          <p:cNvSpPr/>
          <p:nvPr/>
        </p:nvSpPr>
        <p:spPr>
          <a:xfrm>
            <a:off x="8384475" y="4121448"/>
            <a:ext cx="3118200" cy="171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65100" lvl="0" marL="165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838"/>
              </a:buClr>
              <a:buSzPts val="1050"/>
              <a:buFont typeface="Calibri"/>
              <a:buChar char="•"/>
            </a:pPr>
            <a:r>
              <a:rPr b="0" i="0" lang="en-GB" sz="1050" u="none" cap="none" strike="noStrike">
                <a:solidFill>
                  <a:srgbClr val="2B3838"/>
                </a:solidFill>
                <a:latin typeface="Calibri"/>
                <a:ea typeface="Calibri"/>
                <a:cs typeface="Calibri"/>
                <a:sym typeface="Calibri"/>
              </a:rPr>
              <a:t>Save-time validation: block completion on “--select”; require Supporting Text for every “Yes.”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1651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B3838"/>
              </a:buClr>
              <a:buSzPts val="1050"/>
              <a:buFont typeface="Calibri"/>
              <a:buChar char="•"/>
            </a:pPr>
            <a:r>
              <a:rPr b="0" i="0" lang="en-GB" sz="1050" u="none" cap="none" strike="noStrike">
                <a:solidFill>
                  <a:srgbClr val="2B3838"/>
                </a:solidFill>
                <a:latin typeface="Calibri"/>
                <a:ea typeface="Calibri"/>
                <a:cs typeface="Calibri"/>
                <a:sym typeface="Calibri"/>
              </a:rPr>
              <a:t>Capture Supporting Text by highlighting the abstract → verbatim quote, no copy-paste errors.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1651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B3838"/>
              </a:buClr>
              <a:buSzPts val="1050"/>
              <a:buFont typeface="Calibri"/>
              <a:buChar char="•"/>
            </a:pPr>
            <a:r>
              <a:rPr b="0" i="0" lang="en-GB" sz="1050" u="none" cap="none" strike="noStrike">
                <a:solidFill>
                  <a:srgbClr val="2B3838"/>
                </a:solidFill>
                <a:latin typeface="Calibri"/>
                <a:ea typeface="Calibri"/>
                <a:cs typeface="Calibri"/>
                <a:sym typeface="Calibri"/>
              </a:rPr>
              <a:t>Surface pipeline context per site: matched sentence, predicted mod type (N/O/phospho), confidence</a:t>
            </a:r>
            <a:r>
              <a:rPr lang="en-GB" sz="1050">
                <a:solidFill>
                  <a:srgbClr val="2B3838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r>
              <a:rPr b="0" i="0" lang="en-GB" sz="1050" u="none" cap="none" strike="noStrike">
                <a:solidFill>
                  <a:srgbClr val="2B3838"/>
                </a:solidFill>
                <a:latin typeface="Calibri"/>
                <a:ea typeface="Calibri"/>
                <a:cs typeface="Calibri"/>
                <a:sym typeface="Calibri"/>
              </a:rPr>
              <a:t> also feeds v2.0 active learning.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2013 - 2022 Theme">
  <a:themeElements>
    <a:clrScheme name="Office 2013 - 2022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2020-03-04T19:24:18Z</dcterms:created>
  <dc:creator>Tatiana W</dc:creator>
</cp:coreProperties>
</file>